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b="def" i="def"/>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8" name="Shape 178"/>
          <p:cNvSpPr/>
          <p:nvPr>
            <p:ph type="sldImg"/>
          </p:nvPr>
        </p:nvSpPr>
        <p:spPr>
          <a:xfrm>
            <a:off x="1143000" y="685800"/>
            <a:ext cx="4572000" cy="3429000"/>
          </a:xfrm>
          <a:prstGeom prst="rect">
            <a:avLst/>
          </a:prstGeom>
        </p:spPr>
        <p:txBody>
          <a:bodyPr/>
          <a:lstStyle/>
          <a:p>
            <a:pPr/>
          </a:p>
        </p:txBody>
      </p:sp>
      <p:sp>
        <p:nvSpPr>
          <p:cNvPr id="179" name="Shape 17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1" name="Body Level One…"/>
          <p:cNvSpPr txBox="1"/>
          <p:nvPr>
            <p:ph type="body" sz="quarter" idx="1" hasCustomPrompt="1"/>
          </p:nvPr>
        </p:nvSpPr>
        <p:spPr>
          <a:xfrm>
            <a:off x="1201340" y="11859862"/>
            <a:ext cx="21971004" cy="636980"/>
          </a:xfrm>
          <a:prstGeom prst="rect">
            <a:avLst/>
          </a:prstGeom>
        </p:spPr>
        <p:txBody>
          <a:bodyPr lIns="45718" tIns="45718" rIns="45718" bIns="45718" numCol="1" spcCol="38100"/>
          <a:lstStyle>
            <a:lvl1pPr marL="0" indent="0" defTabSz="825500">
              <a:lnSpc>
                <a:spcPct val="100000"/>
              </a:lnSpc>
              <a:spcBef>
                <a:spcPts val="0"/>
              </a:spcBef>
              <a:buSzTx/>
              <a:buNone/>
              <a:defRPr b="1" sz="3600"/>
            </a:lvl1pPr>
            <a:lvl2pPr marL="1066800" indent="-457200" defTabSz="825500">
              <a:lnSpc>
                <a:spcPct val="100000"/>
              </a:lnSpc>
              <a:spcBef>
                <a:spcPts val="0"/>
              </a:spcBef>
              <a:defRPr b="1" sz="3600"/>
            </a:lvl2pPr>
            <a:lvl3pPr marL="1676400" indent="-457200" defTabSz="825500">
              <a:lnSpc>
                <a:spcPct val="100000"/>
              </a:lnSpc>
              <a:spcBef>
                <a:spcPts val="0"/>
              </a:spcBef>
              <a:defRPr b="1" sz="3600"/>
            </a:lvl3pPr>
            <a:lvl4pPr marL="2286000" indent="-457200" defTabSz="825500">
              <a:lnSpc>
                <a:spcPct val="100000"/>
              </a:lnSpc>
              <a:spcBef>
                <a:spcPts val="0"/>
              </a:spcBef>
              <a:defRPr b="1" sz="3600"/>
            </a:lvl4pPr>
            <a:lvl5pPr marL="2895600" indent="-457200" defTabSz="825500">
              <a:lnSpc>
                <a:spcPct val="100000"/>
              </a:lnSpc>
              <a:spcBef>
                <a:spcPts val="0"/>
              </a:spcBef>
              <a:defRPr b="1" sz="3600"/>
            </a:lvl5pPr>
          </a:lstStyle>
          <a:p>
            <a:pPr/>
            <a:r>
              <a:t>Author and Date</a:t>
            </a:r>
          </a:p>
          <a:p>
            <a:pPr lvl="1"/>
            <a:r>
              <a:t/>
            </a:r>
          </a:p>
          <a:p>
            <a:pPr lvl="2"/>
            <a:r>
              <a:t/>
            </a:r>
          </a:p>
          <a:p>
            <a:pPr lvl="3"/>
            <a:r>
              <a:t/>
            </a:r>
          </a:p>
          <a:p>
            <a:pPr lvl="4"/>
            <a:r>
              <a:t/>
            </a:r>
          </a:p>
        </p:txBody>
      </p:sp>
      <p:sp>
        <p:nvSpPr>
          <p:cNvPr id="12" name="Presentation Title"/>
          <p:cNvSpPr txBox="1"/>
          <p:nvPr>
            <p:ph type="title" hasCustomPrompt="1"/>
          </p:nvPr>
        </p:nvSpPr>
        <p:spPr>
          <a:xfrm>
            <a:off x="1206496" y="2574991"/>
            <a:ext cx="21971005" cy="4648202"/>
          </a:xfrm>
          <a:prstGeom prst="rect">
            <a:avLst/>
          </a:prstGeom>
        </p:spPr>
        <p:txBody>
          <a:bodyPr anchor="b"/>
          <a:lstStyle>
            <a:lvl1pPr>
              <a:defRPr spc="-232" sz="11600"/>
            </a:lvl1pPr>
          </a:lstStyle>
          <a:p>
            <a:pPr/>
            <a:r>
              <a:t>Presentation Title</a:t>
            </a:r>
          </a:p>
        </p:txBody>
      </p:sp>
      <p:sp>
        <p:nvSpPr>
          <p:cNvPr id="13" name="Body Level One…"/>
          <p:cNvSpPr txBox="1"/>
          <p:nvPr>
            <p:ph type="body" sz="quarter" idx="21" hasCustomPrompt="1"/>
          </p:nvPr>
        </p:nvSpPr>
        <p:spPr>
          <a:xfrm>
            <a:off x="1201342" y="7223190"/>
            <a:ext cx="21971002" cy="1905002"/>
          </a:xfrm>
          <a:prstGeom prst="rect">
            <a:avLst/>
          </a:prstGeom>
        </p:spPr>
        <p:txBody>
          <a:bodyPr numCol="1" spcCol="38100"/>
          <a:lstStyle>
            <a:lvl1pPr marL="0" indent="0" defTabSz="825500">
              <a:lnSpc>
                <a:spcPct val="100000"/>
              </a:lnSpc>
              <a:spcBef>
                <a:spcPts val="0"/>
              </a:spcBef>
              <a:buSzTx/>
              <a:buNone/>
              <a:defRPr b="1" sz="5500"/>
            </a:lvl1pPr>
          </a:lstStyle>
          <a:p>
            <a:pPr/>
            <a:r>
              <a:t>Presentation Subtitle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View from inside a stone structure, looking out towards stairs and a clear, blue sky"/>
          <p:cNvSpPr/>
          <p:nvPr>
            <p:ph type="pic" idx="21"/>
          </p:nvPr>
        </p:nvSpPr>
        <p:spPr>
          <a:xfrm>
            <a:off x="0" y="-1270000"/>
            <a:ext cx="24384000" cy="16272934"/>
          </a:xfrm>
          <a:prstGeom prst="rect">
            <a:avLst/>
          </a:prstGeom>
        </p:spPr>
        <p:txBody>
          <a:bodyPr lIns="91439" tIns="45719" rIns="91439" bIns="45719" numCol="1" spcCol="38100">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Body Level One…"/>
          <p:cNvSpPr txBox="1"/>
          <p:nvPr>
            <p:ph type="body" sz="quarter" idx="1" hasCustomPrompt="1"/>
          </p:nvPr>
        </p:nvSpPr>
        <p:spPr>
          <a:xfrm>
            <a:off x="1207690" y="1106137"/>
            <a:ext cx="21968621" cy="636980"/>
          </a:xfrm>
          <a:prstGeom prst="rect">
            <a:avLst/>
          </a:prstGeom>
        </p:spPr>
        <p:txBody>
          <a:bodyPr lIns="45718" tIns="45718" rIns="45718" bIns="45718" numCol="1" spcCol="38100"/>
          <a:lstStyle>
            <a:lvl1pPr marL="0" indent="0" defTabSz="825500">
              <a:lnSpc>
                <a:spcPct val="100000"/>
              </a:lnSpc>
              <a:spcBef>
                <a:spcPts val="0"/>
              </a:spcBef>
              <a:buSzTx/>
              <a:buNone/>
              <a:defRPr b="1" sz="3600"/>
            </a:lvl1pPr>
            <a:lvl2pPr marL="1066800" indent="-457200" defTabSz="825500">
              <a:lnSpc>
                <a:spcPct val="100000"/>
              </a:lnSpc>
              <a:spcBef>
                <a:spcPts val="0"/>
              </a:spcBef>
              <a:defRPr b="1" sz="3600"/>
            </a:lvl2pPr>
            <a:lvl3pPr marL="1676400" indent="-457200" defTabSz="825500">
              <a:lnSpc>
                <a:spcPct val="100000"/>
              </a:lnSpc>
              <a:spcBef>
                <a:spcPts val="0"/>
              </a:spcBef>
              <a:defRPr b="1" sz="3600"/>
            </a:lvl3pPr>
            <a:lvl4pPr marL="2286000" indent="-457200" defTabSz="825500">
              <a:lnSpc>
                <a:spcPct val="100000"/>
              </a:lnSpc>
              <a:spcBef>
                <a:spcPts val="0"/>
              </a:spcBef>
              <a:defRPr b="1" sz="3600"/>
            </a:lvl4pPr>
            <a:lvl5pPr marL="2895600" indent="-457200" defTabSz="825500">
              <a:lnSpc>
                <a:spcPct val="100000"/>
              </a:lnSpc>
              <a:spcBef>
                <a:spcPts val="0"/>
              </a:spcBef>
              <a:defRPr b="1" sz="3600"/>
            </a:lvl5pPr>
          </a:lstStyle>
          <a:p>
            <a:pPr/>
            <a:r>
              <a:t>Author and Date</a:t>
            </a:r>
          </a:p>
          <a:p>
            <a:pPr lvl="1"/>
            <a:r>
              <a:t/>
            </a:r>
          </a:p>
          <a:p>
            <a:pPr lvl="2"/>
            <a:r>
              <a:t/>
            </a:r>
          </a:p>
          <a:p>
            <a:pPr lvl="3"/>
            <a:r>
              <a:t/>
            </a:r>
          </a:p>
          <a:p>
            <a:pPr lvl="4"/>
            <a:r>
              <a:t/>
            </a:r>
          </a:p>
        </p:txBody>
      </p:sp>
      <p:sp>
        <p:nvSpPr>
          <p:cNvPr id="24" name="Body Level One…"/>
          <p:cNvSpPr txBox="1"/>
          <p:nvPr>
            <p:ph type="body" sz="quarter" idx="22" hasCustomPrompt="1"/>
          </p:nvPr>
        </p:nvSpPr>
        <p:spPr>
          <a:xfrm>
            <a:off x="1206500" y="11609909"/>
            <a:ext cx="21971000" cy="1116953"/>
          </a:xfrm>
          <a:prstGeom prst="rect">
            <a:avLst/>
          </a:prstGeom>
        </p:spPr>
        <p:txBody>
          <a:bodyPr numCol="1" spcCol="38100"/>
          <a:lstStyle>
            <a:lvl1pPr marL="0" indent="0" defTabSz="825500">
              <a:lnSpc>
                <a:spcPct val="100000"/>
              </a:lnSpc>
              <a:spcBef>
                <a:spcPts val="0"/>
              </a:spcBef>
              <a:buSzTx/>
              <a:buNone/>
              <a:defRPr b="1" sz="5500"/>
            </a:lvl1pPr>
          </a:lstStyle>
          <a:p>
            <a:pPr/>
            <a:r>
              <a:t>Presentation Subtitle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A modern white building with glass panels against a clear, blue sky"/>
          <p:cNvSpPr/>
          <p:nvPr>
            <p:ph type="pic" idx="21"/>
          </p:nvPr>
        </p:nvSpPr>
        <p:spPr>
          <a:xfrm>
            <a:off x="9271000" y="1270000"/>
            <a:ext cx="16764000" cy="11176000"/>
          </a:xfrm>
          <a:prstGeom prst="rect">
            <a:avLst/>
          </a:prstGeom>
        </p:spPr>
        <p:txBody>
          <a:bodyPr lIns="91439" tIns="45719" rIns="91439" bIns="45719" numCol="1" spcCol="38100">
            <a:noAutofit/>
          </a:bodyPr>
          <a:lstStyle/>
          <a:p>
            <a:pPr/>
          </a:p>
        </p:txBody>
      </p:sp>
      <p:sp>
        <p:nvSpPr>
          <p:cNvPr id="33" name="Slide Title"/>
          <p:cNvSpPr txBox="1"/>
          <p:nvPr>
            <p:ph type="title" hasCustomPrompt="1"/>
          </p:nvPr>
        </p:nvSpPr>
        <p:spPr>
          <a:xfrm>
            <a:off x="1206500" y="1270000"/>
            <a:ext cx="9779000" cy="5882274"/>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numCol="1" spcCol="38100"/>
          <a:lstStyle>
            <a:lvl1pPr marL="0" indent="0" defTabSz="825500">
              <a:lnSpc>
                <a:spcPct val="100000"/>
              </a:lnSpc>
              <a:spcBef>
                <a:spcPts val="0"/>
              </a:spcBef>
              <a:buSzTx/>
              <a:buNone/>
              <a:defRPr b="1" sz="5500"/>
            </a:lvl1pPr>
            <a:lvl2pPr marL="0" indent="0" defTabSz="825500">
              <a:lnSpc>
                <a:spcPct val="100000"/>
              </a:lnSpc>
              <a:spcBef>
                <a:spcPts val="0"/>
              </a:spcBef>
              <a:buSzTx/>
              <a:buNone/>
              <a:defRPr b="1" sz="5500"/>
            </a:lvl2pPr>
            <a:lvl3pPr marL="0" indent="0" defTabSz="825500">
              <a:lnSpc>
                <a:spcPct val="100000"/>
              </a:lnSpc>
              <a:spcBef>
                <a:spcPts val="0"/>
              </a:spcBef>
              <a:buSzTx/>
              <a:buNone/>
              <a:defRPr b="1" sz="5500"/>
            </a:lvl3pPr>
            <a:lvl4pPr marL="0" indent="0" defTabSz="825500">
              <a:lnSpc>
                <a:spcPct val="100000"/>
              </a:lnSpc>
              <a:spcBef>
                <a:spcPts val="0"/>
              </a:spcBef>
              <a:buSzTx/>
              <a:buNone/>
              <a:defRPr b="1" sz="5500"/>
            </a:lvl4pPr>
            <a:lvl5pPr marL="0" indent="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500" y="13085233"/>
            <a:ext cx="368504"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1206500" y="1079500"/>
            <a:ext cx="21971000" cy="1433164"/>
          </a:xfrm>
          <a:prstGeom prst="rect">
            <a:avLst/>
          </a:prstGeom>
        </p:spPr>
        <p:txBody>
          <a:bodyPr/>
          <a:lstStyle/>
          <a:p>
            <a:pPr/>
            <a:r>
              <a:t>Slide Title</a:t>
            </a:r>
          </a:p>
        </p:txBody>
      </p:sp>
      <p:sp>
        <p:nvSpPr>
          <p:cNvPr id="43" name="Body Level One…"/>
          <p:cNvSpPr txBox="1"/>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44" name="Body Level One…"/>
          <p:cNvSpPr txBox="1"/>
          <p:nvPr>
            <p:ph type="body" idx="21" hasCustomPrompt="1"/>
          </p:nvPr>
        </p:nvSpPr>
        <p:spPr>
          <a:xfrm>
            <a:off x="1206500" y="4248503"/>
            <a:ext cx="21971000" cy="8256014"/>
          </a:xfrm>
          <a:prstGeom prst="rect">
            <a:avLst/>
          </a:prstGeom>
        </p:spPr>
        <p:txBody>
          <a:bodyPr numCol="1" spcCol="38100"/>
          <a:lstStyle/>
          <a:p>
            <a:pPr/>
            <a:r>
              <a:t>Slide bullet text</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Body Level One…"/>
          <p:cNvSpPr txBox="1"/>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61" name="Body Level One…"/>
          <p:cNvSpPr txBox="1"/>
          <p:nvPr>
            <p:ph type="body" sz="half" idx="21" hasCustomPrompt="1"/>
          </p:nvPr>
        </p:nvSpPr>
        <p:spPr>
          <a:xfrm>
            <a:off x="1206500" y="4248503"/>
            <a:ext cx="9779000" cy="8256631"/>
          </a:xfrm>
          <a:prstGeom prst="rect">
            <a:avLst/>
          </a:prstGeom>
        </p:spPr>
        <p:txBody>
          <a:bodyPr numCol="1" spcCol="38100"/>
          <a:lstStyle/>
          <a:p>
            <a:pPr/>
            <a:r>
              <a:t>Slide bullet text</a:t>
            </a:r>
          </a:p>
        </p:txBody>
      </p:sp>
      <p:sp>
        <p:nvSpPr>
          <p:cNvPr id="62" name="Small section of a modern shell bridge in Qingdao, Shandong, China with a partly cloudy sky above"/>
          <p:cNvSpPr/>
          <p:nvPr>
            <p:ph type="pic" idx="22"/>
          </p:nvPr>
        </p:nvSpPr>
        <p:spPr>
          <a:xfrm>
            <a:off x="9271000" y="1263847"/>
            <a:ext cx="16773843" cy="11188206"/>
          </a:xfrm>
          <a:prstGeom prst="rect">
            <a:avLst/>
          </a:prstGeom>
        </p:spPr>
        <p:txBody>
          <a:bodyPr lIns="91439" tIns="45719" rIns="91439" bIns="45719" numCol="1" spcCol="38100">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Body Level One…"/>
          <p:cNvSpPr txBox="1"/>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72" name="Body Level One…"/>
          <p:cNvSpPr txBox="1"/>
          <p:nvPr>
            <p:ph type="body" sz="half" idx="21" hasCustomPrompt="1"/>
          </p:nvPr>
        </p:nvSpPr>
        <p:spPr>
          <a:xfrm>
            <a:off x="1206500" y="4248503"/>
            <a:ext cx="9779000" cy="8256631"/>
          </a:xfrm>
          <a:prstGeom prst="rect">
            <a:avLst/>
          </a:prstGeom>
        </p:spPr>
        <p:txBody>
          <a:bodyPr numCol="1" spcCol="38100"/>
          <a:lstStyle/>
          <a:p>
            <a:pPr/>
            <a:r>
              <a:t>Slide bullet text</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Body Level One…"/>
          <p:cNvSpPr txBox="1"/>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82" name="Body Level One…"/>
          <p:cNvSpPr txBox="1"/>
          <p:nvPr>
            <p:ph type="body" sz="half" idx="21" hasCustomPrompt="1"/>
          </p:nvPr>
        </p:nvSpPr>
        <p:spPr>
          <a:xfrm>
            <a:off x="1206500" y="4248503"/>
            <a:ext cx="9779000" cy="8256631"/>
          </a:xfrm>
          <a:prstGeom prst="rect">
            <a:avLst/>
          </a:prstGeom>
        </p:spPr>
        <p:txBody>
          <a:bodyPr numCol="1" spcCol="38100"/>
          <a:lstStyle/>
          <a:p>
            <a:pPr/>
            <a:r>
              <a:t>Slide bullet text</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5"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500" y="13085233"/>
            <a:ext cx="368504"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50"/>
          </a:xfrm>
          <a:prstGeom prst="rect">
            <a:avLst/>
          </a:prstGeom>
        </p:spPr>
        <p:txBody>
          <a:bodyPr/>
          <a:lstStyle/>
          <a:p>
            <a:pPr/>
            <a:r>
              <a:t>Slide Title</a:t>
            </a:r>
          </a:p>
        </p:txBody>
      </p:sp>
      <p:sp>
        <p:nvSpPr>
          <p:cNvPr id="100" name="Body Level One…"/>
          <p:cNvSpPr txBox="1"/>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Body Level One…"/>
          <p:cNvSpPr txBox="1"/>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Agenda Subtitle</a:t>
            </a:r>
          </a:p>
          <a:p>
            <a:pPr lvl="1"/>
            <a:r>
              <a:t/>
            </a:r>
          </a:p>
          <a:p>
            <a:pPr lvl="2"/>
            <a:r>
              <a:t/>
            </a:r>
          </a:p>
          <a:p>
            <a:pPr lvl="3"/>
            <a:r>
              <a:t/>
            </a:r>
          </a:p>
          <a:p>
            <a:pPr lvl="4"/>
            <a:r>
              <a:t/>
            </a:r>
          </a:p>
        </p:txBody>
      </p:sp>
      <p:sp>
        <p:nvSpPr>
          <p:cNvPr id="110" name="Body Level One…"/>
          <p:cNvSpPr txBox="1"/>
          <p:nvPr>
            <p:ph type="body" idx="21" hasCustomPrompt="1"/>
          </p:nvPr>
        </p:nvSpPr>
        <p:spPr>
          <a:xfrm>
            <a:off x="1206500" y="4248503"/>
            <a:ext cx="21971000" cy="8256014"/>
          </a:xfrm>
          <a:prstGeom prst="rect">
            <a:avLst/>
          </a:prstGeom>
        </p:spPr>
        <p:txBody>
          <a:bodyPr numCol="1" spcCol="38100"/>
          <a:lstStyle>
            <a:lvl1pPr marL="0" indent="0" defTabSz="825500">
              <a:lnSpc>
                <a:spcPct val="100000"/>
              </a:lnSpc>
              <a:spcBef>
                <a:spcPts val="1800"/>
              </a:spcBef>
              <a:buSzTx/>
              <a:buNone/>
              <a:defRPr spc="-99" sz="5500"/>
            </a:lvl1pPr>
          </a:lstStyle>
          <a:p>
            <a:pPr/>
            <a:r>
              <a:t>Agenda Topics</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numCol="1" spcCol="38100"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6"/>
            <a:ext cx="21971000" cy="7241586"/>
          </a:xfrm>
          <a:prstGeom prst="rect">
            <a:avLst/>
          </a:prstGeom>
        </p:spPr>
        <p:txBody>
          <a:bodyPr numCol="1" spcCol="38100" anchor="b"/>
          <a:lstStyle>
            <a:lvl1pPr marL="0" indent="0" algn="ctr">
              <a:lnSpc>
                <a:spcPct val="80000"/>
              </a:lnSpc>
              <a:spcBef>
                <a:spcPts val="0"/>
              </a:spcBef>
              <a:buSzTx/>
              <a:buNone/>
              <a:defRPr b="1" spc="-250" sz="25000"/>
            </a:lvl1pPr>
            <a:lvl2pPr marL="0" indent="0" algn="ctr">
              <a:lnSpc>
                <a:spcPct val="80000"/>
              </a:lnSpc>
              <a:spcBef>
                <a:spcPts val="0"/>
              </a:spcBef>
              <a:buSzTx/>
              <a:buNone/>
              <a:defRPr b="1" spc="-250" sz="25000"/>
            </a:lvl2pPr>
            <a:lvl3pPr marL="0" indent="0" algn="ctr">
              <a:lnSpc>
                <a:spcPct val="80000"/>
              </a:lnSpc>
              <a:spcBef>
                <a:spcPts val="0"/>
              </a:spcBef>
              <a:buSzTx/>
              <a:buNone/>
              <a:defRPr b="1" spc="-250" sz="25000"/>
            </a:lvl3pPr>
            <a:lvl4pPr marL="0" indent="0" algn="ctr">
              <a:lnSpc>
                <a:spcPct val="80000"/>
              </a:lnSpc>
              <a:spcBef>
                <a:spcPts val="0"/>
              </a:spcBef>
              <a:buSzTx/>
              <a:buNone/>
              <a:defRPr b="1" spc="-250" sz="25000"/>
            </a:lvl4pPr>
            <a:lvl5pPr marL="0" indent="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8" tIns="45718" rIns="45718" bIns="45718" numCol="1" spcCol="38100"/>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Body Level One…"/>
          <p:cNvSpPr txBox="1"/>
          <p:nvPr>
            <p:ph type="body" sz="quarter" idx="1" hasCustomPrompt="1"/>
          </p:nvPr>
        </p:nvSpPr>
        <p:spPr>
          <a:xfrm>
            <a:off x="2430024" y="10675453"/>
            <a:ext cx="20200054" cy="636980"/>
          </a:xfrm>
          <a:prstGeom prst="rect">
            <a:avLst/>
          </a:prstGeom>
        </p:spPr>
        <p:txBody>
          <a:bodyPr lIns="45718" tIns="45718" rIns="45718" bIns="45718" numCol="1" spcCol="38100"/>
          <a:lstStyle>
            <a:lvl1pPr marL="0" indent="0" defTabSz="825500">
              <a:lnSpc>
                <a:spcPct val="100000"/>
              </a:lnSpc>
              <a:spcBef>
                <a:spcPts val="0"/>
              </a:spcBef>
              <a:buSzTx/>
              <a:buNone/>
              <a:defRPr b="1" sz="3600"/>
            </a:lvl1pPr>
            <a:lvl2pPr marL="1066800" indent="-457200" defTabSz="825500">
              <a:lnSpc>
                <a:spcPct val="100000"/>
              </a:lnSpc>
              <a:spcBef>
                <a:spcPts val="0"/>
              </a:spcBef>
              <a:defRPr b="1" sz="3600"/>
            </a:lvl2pPr>
            <a:lvl3pPr marL="1676400" indent="-457200" defTabSz="825500">
              <a:lnSpc>
                <a:spcPct val="100000"/>
              </a:lnSpc>
              <a:spcBef>
                <a:spcPts val="0"/>
              </a:spcBef>
              <a:defRPr b="1" sz="3600"/>
            </a:lvl3pPr>
            <a:lvl4pPr marL="2286000" indent="-457200" defTabSz="825500">
              <a:lnSpc>
                <a:spcPct val="100000"/>
              </a:lnSpc>
              <a:spcBef>
                <a:spcPts val="0"/>
              </a:spcBef>
              <a:defRPr b="1" sz="3600"/>
            </a:lvl4pPr>
            <a:lvl5pPr marL="2895600" indent="-457200" defTabSz="825500">
              <a:lnSpc>
                <a:spcPct val="100000"/>
              </a:lnSpc>
              <a:spcBef>
                <a:spcPts val="0"/>
              </a:spcBef>
              <a:defRPr b="1" sz="3600"/>
            </a:lvl5pPr>
          </a:lstStyle>
          <a:p>
            <a:pPr/>
            <a:r>
              <a:t>Attribution</a:t>
            </a:r>
          </a:p>
          <a:p>
            <a:pPr lvl="1"/>
            <a:r>
              <a:t/>
            </a:r>
          </a:p>
          <a:p>
            <a:pPr lvl="2"/>
            <a:r>
              <a:t/>
            </a:r>
          </a:p>
          <a:p>
            <a:pPr lvl="3"/>
            <a:r>
              <a:t/>
            </a:r>
          </a:p>
          <a:p>
            <a:pPr lvl="4"/>
            <a:r>
              <a:t/>
            </a:r>
          </a:p>
        </p:txBody>
      </p:sp>
      <p:sp>
        <p:nvSpPr>
          <p:cNvPr id="136" name="Body Level One…"/>
          <p:cNvSpPr txBox="1"/>
          <p:nvPr>
            <p:ph type="body" sz="half" idx="21" hasCustomPrompt="1"/>
          </p:nvPr>
        </p:nvSpPr>
        <p:spPr>
          <a:xfrm>
            <a:off x="1753923" y="4939860"/>
            <a:ext cx="20876154" cy="3836281"/>
          </a:xfrm>
          <a:prstGeom prst="rect">
            <a:avLst/>
          </a:prstGeom>
        </p:spPr>
        <p:txBody>
          <a:bodyPr numCol="1" spcCol="38100"/>
          <a:lstStyle>
            <a:lvl1pPr marL="469900" indent="-300876">
              <a:spcBef>
                <a:spcPts val="0"/>
              </a:spcBef>
              <a:buSzTx/>
              <a:buNone/>
              <a:defRPr spc="-200" sz="8500">
                <a:latin typeface="Helvetica Neue Medium"/>
                <a:ea typeface="Helvetica Neue Medium"/>
                <a:cs typeface="Helvetica Neue Medium"/>
                <a:sym typeface="Helvetica Neue Medium"/>
              </a:defRPr>
            </a:lvl1pPr>
          </a:lstStyle>
          <a:p>
            <a:pPr/>
            <a:r>
              <a:t>“Notable Quote”</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Low-angle exterior view of a modern building facade covered with aluminium discs under a clear, blue sky"/>
          <p:cNvSpPr/>
          <p:nvPr>
            <p:ph type="pic" sz="quarter" idx="21"/>
          </p:nvPr>
        </p:nvSpPr>
        <p:spPr>
          <a:xfrm>
            <a:off x="15417800" y="1270000"/>
            <a:ext cx="8144934" cy="5410200"/>
          </a:xfrm>
          <a:prstGeom prst="rect">
            <a:avLst/>
          </a:prstGeom>
        </p:spPr>
        <p:txBody>
          <a:bodyPr lIns="91439" tIns="45719" rIns="91439" bIns="45719" numCol="1" spcCol="38100">
            <a:noAutofit/>
          </a:bodyPr>
          <a:lstStyle/>
          <a:p>
            <a:pPr/>
          </a:p>
        </p:txBody>
      </p:sp>
      <p:sp>
        <p:nvSpPr>
          <p:cNvPr id="145" name="Low-angle view of a modern, curved building under a cloudy sky"/>
          <p:cNvSpPr/>
          <p:nvPr>
            <p:ph type="pic" sz="quarter" idx="22"/>
          </p:nvPr>
        </p:nvSpPr>
        <p:spPr>
          <a:xfrm>
            <a:off x="15443200" y="7086600"/>
            <a:ext cx="8138580" cy="5422900"/>
          </a:xfrm>
          <a:prstGeom prst="rect">
            <a:avLst/>
          </a:prstGeom>
        </p:spPr>
        <p:txBody>
          <a:bodyPr lIns="91439" tIns="45719" rIns="91439" bIns="45719" numCol="1" spcCol="38100">
            <a:noAutofit/>
          </a:bodyPr>
          <a:lstStyle/>
          <a:p>
            <a:pPr/>
          </a:p>
        </p:txBody>
      </p:sp>
      <p:sp>
        <p:nvSpPr>
          <p:cNvPr id="146" name="View from inside a modern white building with glass panels, looking up to a bright, partly cloudy sky"/>
          <p:cNvSpPr/>
          <p:nvPr>
            <p:ph type="pic" idx="23"/>
          </p:nvPr>
        </p:nvSpPr>
        <p:spPr>
          <a:xfrm>
            <a:off x="-124636" y="1270000"/>
            <a:ext cx="16840170" cy="11243713"/>
          </a:xfrm>
          <a:prstGeom prst="rect">
            <a:avLst/>
          </a:prstGeom>
        </p:spPr>
        <p:txBody>
          <a:bodyPr lIns="91439" tIns="45719" rIns="91439" bIns="45719" numCol="1" spcCol="38100">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bg>
      <p:bgPr>
        <a:solidFill>
          <a:srgbClr val="FFFFFF"/>
        </a:solidFill>
      </p:bgPr>
    </p:bg>
    <p:spTree>
      <p:nvGrpSpPr>
        <p:cNvPr id="1" name=""/>
        <p:cNvGrpSpPr/>
        <p:nvPr/>
      </p:nvGrpSpPr>
      <p:grpSpPr>
        <a:xfrm>
          <a:off x="0" y="0"/>
          <a:ext cx="0" cy="0"/>
          <a:chOff x="0" y="0"/>
          <a:chExt cx="0" cy="0"/>
        </a:xfrm>
      </p:grpSpPr>
      <p:sp>
        <p:nvSpPr>
          <p:cNvPr id="154" name="Low-angle view of the Azadi Tower in Tehran, Iran against a clear, bright sky"/>
          <p:cNvSpPr/>
          <p:nvPr>
            <p:ph type="pic" idx="21"/>
          </p:nvPr>
        </p:nvSpPr>
        <p:spPr>
          <a:xfrm>
            <a:off x="0" y="-1282700"/>
            <a:ext cx="24384000" cy="16281400"/>
          </a:xfrm>
          <a:prstGeom prst="rect">
            <a:avLst/>
          </a:prstGeom>
        </p:spPr>
        <p:txBody>
          <a:bodyPr lIns="91439" tIns="45719" rIns="91439" bIns="45719" numCol="1" spcCol="38100">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9" name="Slide Title"/>
          <p:cNvSpPr txBox="1"/>
          <p:nvPr>
            <p:ph type="title" hasCustomPrompt="1"/>
          </p:nvPr>
        </p:nvSpPr>
        <p:spPr>
          <a:xfrm>
            <a:off x="1206500" y="1079500"/>
            <a:ext cx="21971000" cy="1433164"/>
          </a:xfrm>
          <a:prstGeom prst="rect">
            <a:avLst/>
          </a:prstGeom>
        </p:spPr>
        <p:txBody>
          <a:bodyPr/>
          <a:lstStyle>
            <a:lvl1pPr defTabSz="2438337"/>
          </a:lstStyle>
          <a:p>
            <a:pPr/>
            <a:r>
              <a:t>Slide Title</a:t>
            </a:r>
          </a:p>
        </p:txBody>
      </p:sp>
      <p:sp>
        <p:nvSpPr>
          <p:cNvPr id="170" name="Body Level One…"/>
          <p:cNvSpPr txBox="1"/>
          <p:nvPr>
            <p:ph type="body" sz="quarter" idx="1" hasCustomPrompt="1"/>
          </p:nvPr>
        </p:nvSpPr>
        <p:spPr>
          <a:xfrm>
            <a:off x="1206500" y="2372960"/>
            <a:ext cx="21971000" cy="934782"/>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171" name="Body Level One…"/>
          <p:cNvSpPr txBox="1"/>
          <p:nvPr>
            <p:ph type="body" idx="21" hasCustomPrompt="1"/>
          </p:nvPr>
        </p:nvSpPr>
        <p:spPr>
          <a:xfrm>
            <a:off x="1206500" y="4248503"/>
            <a:ext cx="21971000" cy="8256015"/>
          </a:xfrm>
          <a:prstGeom prst="rect">
            <a:avLst/>
          </a:prstGeom>
        </p:spPr>
        <p:txBody>
          <a:bodyPr numCol="1" spcCol="38100"/>
          <a:lstStyle>
            <a:lvl1pPr defTabSz="2438337"/>
          </a:lstStyle>
          <a:p>
            <a:pPr/>
            <a:r>
              <a:t>Slide bullet text</a:t>
            </a:r>
          </a:p>
        </p:txBody>
      </p:sp>
      <p:sp>
        <p:nvSpPr>
          <p:cNvPr id="1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206500" y="4248503"/>
            <a:ext cx="21971000" cy="82560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numCol="2" spcCol="1098550">
            <a:normAutofit fontScale="100000" lnSpcReduction="0"/>
          </a:bodyPr>
          <a:lstStyle/>
          <a:p>
            <a:pPr/>
            <a:r>
              <a:t>Slide bullet text</a:t>
            </a:r>
          </a:p>
          <a:p>
            <a:pPr lvl="1"/>
            <a:r>
              <a:t/>
            </a:r>
          </a:p>
          <a:p>
            <a:pPr lvl="2"/>
            <a:r>
              <a:t/>
            </a:r>
          </a:p>
          <a:p>
            <a:pPr lvl="3"/>
            <a:r>
              <a:t/>
            </a:r>
          </a:p>
          <a:p>
            <a:pPr lvl="4"/>
            <a:r>
              <a:t/>
            </a:r>
          </a:p>
        </p:txBody>
      </p:sp>
      <p:sp>
        <p:nvSpPr>
          <p:cNvPr id="3" name="Title Text"/>
          <p:cNvSpPr txBox="1"/>
          <p:nvPr>
            <p:ph type="title"/>
          </p:nvPr>
        </p:nvSpPr>
        <p:spPr>
          <a:xfrm>
            <a:off x="3653366" y="2743200"/>
            <a:ext cx="19507201" cy="15053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Title Text</a:t>
            </a:r>
          </a:p>
        </p:txBody>
      </p:sp>
      <p:sp>
        <p:nvSpPr>
          <p:cNvPr id="4" name="Slide Number"/>
          <p:cNvSpPr txBox="1"/>
          <p:nvPr>
            <p:ph type="sldNum" sz="quarter" idx="2"/>
          </p:nvPr>
        </p:nvSpPr>
        <p:spPr>
          <a:xfrm>
            <a:off x="12001500" y="13080999"/>
            <a:ext cx="368504"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Lst>
  <p:transition xmlns:p14="http://schemas.microsoft.com/office/powerpoint/2010/main" spd="med" advClick="1"/>
  <p:txStyles>
    <p:titleStyle>
      <a:lvl1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hyperlink" Target="http://re-Isearch.org" TargetMode="External"/><Relationship Id="rId4" Type="http://schemas.openxmlformats.org/officeDocument/2006/relationships/hyperlink" Target="https://nlnet.nl/commonsfund" TargetMode="External"/><Relationship Id="rId5" Type="http://schemas.openxmlformats.org/officeDocument/2006/relationships/hyperlink" Target="https://nlnet.nl/" TargetMode="External"/><Relationship Id="rId6" Type="http://schemas.openxmlformats.org/officeDocument/2006/relationships/hyperlink" Target="https://ngi.eu/" TargetMode="External"/><Relationship Id="rId7" Type="http://schemas.openxmlformats.org/officeDocument/2006/relationships/hyperlink" Target="https://commission.europa.eu/about-european-commission/departments-and-executive-agencies/communications-networks-content-and-technology_en" TargetMode="External"/><Relationship Id="rId8" Type="http://schemas.openxmlformats.org/officeDocument/2006/relationships/hyperlink" Target="https://cordis.europa.eu/project/id/101135429" TargetMode="External"/><Relationship Id="rId9" Type="http://schemas.openxmlformats.org/officeDocument/2006/relationships/hyperlink" Target="https://www.sbfi.admin.ch/sbfi/en/home.html"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hyperlink" Target="https://nlnet.nl/project/Re-iSearch/" TargetMode="External"/><Relationship Id="rId4" Type="http://schemas.openxmlformats.org/officeDocument/2006/relationships/hyperlink" Target="https://archive.fosdem.org/2022/schedule/event/lt_re_lsearch/"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hyperlink" Target="https://github.com/re-Isearch/re-Isearch/blob/master/docs/datatypes-list" TargetMode="External"/></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1.tif"/></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hyperlink" Target="http://re-Isearch.org" TargetMode="External"/><Relationship Id="rId4" Type="http://schemas.openxmlformats.org/officeDocument/2006/relationships/hyperlink" Target="http://ExoDAO.net" TargetMode="Externa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png"/><Relationship Id="rId3" Type="http://schemas.openxmlformats.org/officeDocument/2006/relationships/hyperlink" Target="https://github.com/re-Isearch/Schmate" TargetMode="External"/><Relationship Id="rId4" Type="http://schemas.openxmlformats.org/officeDocument/2006/relationships/image" Target="../media/image1.gif"/><Relationship Id="rId5" Type="http://schemas.openxmlformats.org/officeDocument/2006/relationships/hyperlink" Target="https://nlnet.nl/commonsfund" TargetMode="External"/><Relationship Id="rId6" Type="http://schemas.openxmlformats.org/officeDocument/2006/relationships/hyperlink" Target="https://nlnet.nl/" TargetMode="External"/><Relationship Id="rId7" Type="http://schemas.openxmlformats.org/officeDocument/2006/relationships/hyperlink" Target="https://ngi.eu/" TargetMode="External"/><Relationship Id="rId8" Type="http://schemas.openxmlformats.org/officeDocument/2006/relationships/hyperlink" Target="https://commission.europa.eu/about-european-commission/departments-and-executive-agencies/communications-networks-content-and-technology_en" TargetMode="External"/><Relationship Id="rId9" Type="http://schemas.openxmlformats.org/officeDocument/2006/relationships/hyperlink" Target="https://cordis.europa.eu/project/id/101135429" TargetMode="External"/><Relationship Id="rId10" Type="http://schemas.openxmlformats.org/officeDocument/2006/relationships/hyperlink" Target="https://www.sbfi.admin.ch/sbfi/en/home.html"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81" name="Edward C. Zimmermann // re-Isearch.org // 2025"/>
          <p:cNvSpPr txBox="1"/>
          <p:nvPr>
            <p:ph type="body" sz="quarter" idx="1"/>
          </p:nvPr>
        </p:nvSpPr>
        <p:spPr>
          <a:xfrm>
            <a:off x="1206499" y="10627846"/>
            <a:ext cx="21971002" cy="848381"/>
          </a:xfrm>
          <a:prstGeom prst="rect">
            <a:avLst/>
          </a:prstGeom>
        </p:spPr>
        <p:txBody>
          <a:bodyPr/>
          <a:lstStyle/>
          <a:p>
            <a:pPr>
              <a:defRPr sz="4000">
                <a:solidFill>
                  <a:srgbClr val="FFFFFF"/>
                </a:solidFill>
              </a:defRPr>
            </a:pPr>
            <a:r>
              <a:t>Edward C. Zimmermann // </a:t>
            </a:r>
            <a:r>
              <a:rPr u="sng">
                <a:solidFill>
                  <a:srgbClr val="0000FF"/>
                </a:solidFill>
                <a:uFill>
                  <a:solidFill>
                    <a:srgbClr val="0000FF"/>
                  </a:solidFill>
                </a:uFill>
                <a:hlinkClick r:id="rId3" invalidUrl="" action="" tgtFrame="" tooltip="" history="1" highlightClick="0" endSnd="0"/>
              </a:rPr>
              <a:t>re-Isearch.org</a:t>
            </a:r>
            <a:r>
              <a:t> // 2025</a:t>
            </a:r>
          </a:p>
        </p:txBody>
      </p:sp>
      <p:sp>
        <p:nvSpPr>
          <p:cNvPr id="182" name="Project שמאטע: Schmate* (Pronounced “SHMAH-teh”)"/>
          <p:cNvSpPr txBox="1"/>
          <p:nvPr>
            <p:ph type="title"/>
          </p:nvPr>
        </p:nvSpPr>
        <p:spPr>
          <a:xfrm>
            <a:off x="1206497" y="708046"/>
            <a:ext cx="21971006" cy="4185697"/>
          </a:xfrm>
          <a:prstGeom prst="rect">
            <a:avLst/>
          </a:prstGeom>
        </p:spPr>
        <p:txBody>
          <a:bodyPr/>
          <a:lstStyle>
            <a:lvl1pPr defTabSz="457200">
              <a:lnSpc>
                <a:spcPct val="100000"/>
              </a:lnSpc>
              <a:spcBef>
                <a:spcPts val="1700"/>
              </a:spcBef>
              <a:defRPr b="0" spc="0" sz="9600">
                <a:solidFill>
                  <a:srgbClr val="FFFFFF"/>
                </a:solidFill>
                <a:latin typeface="Arial"/>
                <a:ea typeface="Arial"/>
                <a:cs typeface="Arial"/>
                <a:sym typeface="Arial"/>
              </a:defRPr>
            </a:lvl1pPr>
          </a:lstStyle>
          <a:p>
            <a:pPr/>
            <a:r>
              <a:t>Project שמאטע: Schmate* (Pronounced “SHMAH-teh”)</a:t>
            </a:r>
          </a:p>
        </p:txBody>
      </p:sp>
      <p:sp>
        <p:nvSpPr>
          <p:cNvPr id="183" name="Extending re-Isearch with vector datatypes for embeddings. Enabling a better dense passage retrieval (DPR) for retrieval augmented generation (RAG) and hybrid search.…"/>
          <p:cNvSpPr txBox="1"/>
          <p:nvPr/>
        </p:nvSpPr>
        <p:spPr>
          <a:xfrm>
            <a:off x="1201342" y="6093786"/>
            <a:ext cx="21981316" cy="41856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defTabSz="427703">
              <a:lnSpc>
                <a:spcPct val="100000"/>
              </a:lnSpc>
              <a:spcBef>
                <a:spcPts val="0"/>
              </a:spcBef>
              <a:tabLst>
                <a:tab pos="2146300" algn="l"/>
                <a:tab pos="2374900" algn="r"/>
                <a:tab pos="2374900" algn="r"/>
                <a:tab pos="4749800" algn="r"/>
                <a:tab pos="4749800" algn="r"/>
              </a:tabLst>
              <a:defRPr b="1" sz="5300">
                <a:solidFill>
                  <a:srgbClr val="FFFFFF"/>
                </a:solidFill>
                <a:latin typeface="American Typewriter"/>
                <a:ea typeface="American Typewriter"/>
                <a:cs typeface="American Typewriter"/>
                <a:sym typeface="American Typewriter"/>
              </a:defRPr>
            </a:pPr>
            <a:r>
              <a:t>Extending re-Isearch with vector datatypes for embeddings. Enabling a better dense passage retrieval (DPR) for retrieval augmented generation (RAG) and hybrid search.</a:t>
            </a:r>
          </a:p>
          <a:p>
            <a:pPr defTabSz="427703">
              <a:lnSpc>
                <a:spcPct val="100000"/>
              </a:lnSpc>
              <a:spcBef>
                <a:spcPts val="0"/>
              </a:spcBef>
              <a:tabLst>
                <a:tab pos="2146300" algn="l"/>
                <a:tab pos="2374900" algn="r"/>
                <a:tab pos="2374900" algn="r"/>
                <a:tab pos="4749800" algn="r"/>
                <a:tab pos="4749800" algn="r"/>
              </a:tabLst>
              <a:defRPr b="1" sz="5100">
                <a:latin typeface="American Typewriter"/>
                <a:ea typeface="American Typewriter"/>
                <a:cs typeface="American Typewriter"/>
                <a:sym typeface="American Typewriter"/>
              </a:defRPr>
            </a:pPr>
          </a:p>
          <a:p>
            <a:pPr defTabSz="427703">
              <a:lnSpc>
                <a:spcPct val="100000"/>
              </a:lnSpc>
              <a:spcBef>
                <a:spcPts val="0"/>
              </a:spcBef>
              <a:tabLst>
                <a:tab pos="2146300" algn="l"/>
                <a:tab pos="2374900" algn="r"/>
                <a:tab pos="2374900" algn="r"/>
                <a:tab pos="4749800" algn="r"/>
                <a:tab pos="4749800" algn="r"/>
              </a:tabLst>
              <a:defRPr b="1" sz="5100">
                <a:solidFill>
                  <a:srgbClr val="D5D5D5"/>
                </a:solidFill>
                <a:latin typeface="American Typewriter"/>
                <a:ea typeface="American Typewriter"/>
                <a:cs typeface="American Typewriter"/>
                <a:sym typeface="American Typewriter"/>
              </a:defRPr>
            </a:pPr>
            <a:r>
              <a:t>(*) Schmate means RAG in Yiddish </a:t>
            </a:r>
          </a:p>
        </p:txBody>
      </p:sp>
      <p:sp>
        <p:nvSpPr>
          <p:cNvPr id="184" name="This project is funded through the NGI0 Commons Fund, a fund established by NLnet with financial support from the European Commission's Next Generation Internet programme, under the aegis of DG Communications Networks, Content and Technology under grant "/>
          <p:cNvSpPr txBox="1"/>
          <p:nvPr/>
        </p:nvSpPr>
        <p:spPr>
          <a:xfrm>
            <a:off x="311453" y="12017464"/>
            <a:ext cx="24200452" cy="11602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2000"/>
              </a:spcBef>
              <a:defRPr sz="2300">
                <a:solidFill>
                  <a:srgbClr val="FFFFFF"/>
                </a:solidFill>
                <a:uFill>
                  <a:solidFill>
                    <a:srgbClr val="3333FF"/>
                  </a:solidFill>
                </a:uFill>
              </a:defRPr>
            </a:pPr>
            <a:r>
              <a:t>This project is funded through the</a:t>
            </a:r>
            <a:r>
              <a:rPr>
                <a:solidFill>
                  <a:srgbClr val="333333"/>
                </a:solidFill>
              </a:rPr>
              <a:t> </a:t>
            </a:r>
            <a:r>
              <a:rPr u="sng">
                <a:solidFill>
                  <a:srgbClr val="0000FF"/>
                </a:solidFill>
                <a:uFill>
                  <a:solidFill>
                    <a:srgbClr val="0000FF"/>
                  </a:solidFill>
                </a:uFill>
                <a:hlinkClick r:id="rId4" invalidUrl="" action="" tgtFrame="" tooltip="" history="1" highlightClick="0" endSnd="0"/>
              </a:rPr>
              <a:t>NGI0 Commons Fund</a:t>
            </a:r>
            <a:r>
              <a:rPr>
                <a:solidFill>
                  <a:srgbClr val="333333"/>
                </a:solidFill>
              </a:rPr>
              <a:t>, </a:t>
            </a:r>
            <a:r>
              <a:t>a fund established by </a:t>
            </a:r>
            <a:r>
              <a:rPr u="sng">
                <a:solidFill>
                  <a:srgbClr val="0000FF"/>
                </a:solidFill>
                <a:uFill>
                  <a:solidFill>
                    <a:srgbClr val="0000FF"/>
                  </a:solidFill>
                </a:uFill>
                <a:hlinkClick r:id="rId5" invalidUrl="" action="" tgtFrame="" tooltip="" history="1" highlightClick="0" endSnd="0"/>
              </a:rPr>
              <a:t>NLnet</a:t>
            </a:r>
            <a:r>
              <a:rPr>
                <a:solidFill>
                  <a:srgbClr val="333333"/>
                </a:solidFill>
              </a:rPr>
              <a:t> </a:t>
            </a:r>
            <a:r>
              <a:t>with financial support from the European Commission's </a:t>
            </a:r>
            <a:r>
              <a:rPr u="sng">
                <a:solidFill>
                  <a:srgbClr val="0000FF"/>
                </a:solidFill>
                <a:uFill>
                  <a:solidFill>
                    <a:srgbClr val="0000FF"/>
                  </a:solidFill>
                </a:uFill>
                <a:hlinkClick r:id="rId6" invalidUrl="" action="" tgtFrame="" tooltip="" history="1" highlightClick="0" endSnd="0"/>
              </a:rPr>
              <a:t>Next Generation Internet</a:t>
            </a:r>
            <a:r>
              <a:rPr>
                <a:solidFill>
                  <a:srgbClr val="333333"/>
                </a:solidFill>
              </a:rPr>
              <a:t> </a:t>
            </a:r>
            <a:r>
              <a:t>programme, under the aegis of</a:t>
            </a:r>
            <a:r>
              <a:rPr>
                <a:solidFill>
                  <a:srgbClr val="333333"/>
                </a:solidFill>
              </a:rPr>
              <a:t> </a:t>
            </a:r>
            <a:r>
              <a:rPr u="sng">
                <a:solidFill>
                  <a:srgbClr val="0000FF"/>
                </a:solidFill>
                <a:uFill>
                  <a:solidFill>
                    <a:srgbClr val="0000FF"/>
                  </a:solidFill>
                </a:uFill>
                <a:hlinkClick r:id="rId7" invalidUrl="" action="" tgtFrame="" tooltip="" history="1" highlightClick="0" endSnd="0"/>
              </a:rPr>
              <a:t>DG Communications Networks, Content and Technology</a:t>
            </a:r>
            <a:r>
              <a:rPr>
                <a:solidFill>
                  <a:srgbClr val="333333"/>
                </a:solidFill>
              </a:rPr>
              <a:t> </a:t>
            </a:r>
            <a:r>
              <a:t>under grant agreement N</a:t>
            </a:r>
            <a:r>
              <a:rPr baseline="31999" sz="2000"/>
              <a:t>o</a:t>
            </a:r>
            <a:r>
              <a:t> </a:t>
            </a:r>
            <a:r>
              <a:rPr u="sng">
                <a:solidFill>
                  <a:srgbClr val="0000FF"/>
                </a:solidFill>
                <a:uFill>
                  <a:solidFill>
                    <a:srgbClr val="0000FF"/>
                  </a:solidFill>
                </a:uFill>
                <a:hlinkClick r:id="rId8" invalidUrl="" action="" tgtFrame="" tooltip="" history="1" highlightClick="0" endSnd="0"/>
              </a:rPr>
              <a:t>101135429</a:t>
            </a:r>
            <a:r>
              <a:rPr>
                <a:solidFill>
                  <a:srgbClr val="333333"/>
                </a:solidFill>
              </a:rPr>
              <a:t>. </a:t>
            </a:r>
            <a:r>
              <a:t>Additional funding is made available by the</a:t>
            </a:r>
            <a:r>
              <a:rPr>
                <a:solidFill>
                  <a:srgbClr val="333333"/>
                </a:solidFill>
              </a:rPr>
              <a:t> </a:t>
            </a:r>
            <a:r>
              <a:rPr u="sng">
                <a:solidFill>
                  <a:srgbClr val="0000FF"/>
                </a:solidFill>
                <a:uFill>
                  <a:solidFill>
                    <a:srgbClr val="0000FF"/>
                  </a:solidFill>
                </a:uFill>
                <a:hlinkClick r:id="rId9" invalidUrl="" action="" tgtFrame="" tooltip="" history="1" highlightClick="0" endSnd="0"/>
              </a:rPr>
              <a:t>Swiss State Secretariat for Education, Research and Innovation</a:t>
            </a:r>
            <a:r>
              <a:rPr>
                <a:solidFill>
                  <a:srgbClr val="333333"/>
                </a:solidFill>
              </a:rPr>
              <a:t> </a:t>
            </a:r>
            <a:r>
              <a:t>(SERI).</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86" name="At its core is Re-Isearch"/>
          <p:cNvSpPr txBox="1"/>
          <p:nvPr>
            <p:ph type="title"/>
          </p:nvPr>
        </p:nvSpPr>
        <p:spPr>
          <a:xfrm>
            <a:off x="1206500" y="1077359"/>
            <a:ext cx="21971000" cy="1433165"/>
          </a:xfrm>
          <a:prstGeom prst="rect">
            <a:avLst/>
          </a:prstGeom>
        </p:spPr>
        <p:txBody>
          <a:bodyPr/>
          <a:lstStyle>
            <a:lvl1pPr>
              <a:defRPr spc="-200">
                <a:solidFill>
                  <a:schemeClr val="accent6"/>
                </a:solidFill>
              </a:defRPr>
            </a:lvl1pPr>
          </a:lstStyle>
          <a:p>
            <a:pPr/>
            <a:r>
              <a:t>At its core is Re-Isearch</a:t>
            </a:r>
          </a:p>
        </p:txBody>
      </p:sp>
      <p:sp>
        <p:nvSpPr>
          <p:cNvPr id="187" name="Re-Isearch is a 100% open source (Apache 2.0) novel multimodal search and retrieval engine using mathematical models and algorithms different from the all-too-common inverted index. It is a kind of hybrid between full-text, XML, object and graph noSQL-db"/>
          <p:cNvSpPr txBox="1"/>
          <p:nvPr>
            <p:ph type="body" idx="1"/>
          </p:nvPr>
        </p:nvSpPr>
        <p:spPr>
          <a:xfrm>
            <a:off x="1336103" y="3389021"/>
            <a:ext cx="21971002" cy="8919981"/>
          </a:xfrm>
          <a:prstGeom prst="rect">
            <a:avLst/>
          </a:prstGeom>
        </p:spPr>
        <p:txBody>
          <a:bodyPr/>
          <a:lstStyle/>
          <a:p>
            <a:pPr defTabSz="2438337">
              <a:lnSpc>
                <a:spcPct val="90000"/>
              </a:lnSpc>
              <a:spcBef>
                <a:spcPts val="4500"/>
              </a:spcBef>
              <a:defRPr b="0" i="1" sz="5800"/>
            </a:pPr>
            <a:r>
              <a:t>Re-Isearch </a:t>
            </a:r>
            <a:r>
              <a:rPr i="0"/>
              <a:t>is a 100% open source (Apache 2.0) </a:t>
            </a:r>
            <a:r>
              <a:rPr i="0">
                <a:solidFill>
                  <a:srgbClr val="424242"/>
                </a:solidFill>
              </a:rPr>
              <a:t>novel multimodal search and retrieval engine using mathematical models and algorithms different from the all-too-common inverted index. It is </a:t>
            </a:r>
            <a:r>
              <a:rPr i="0"/>
              <a:t>a kind of hybrid between full-text, XML, object and graph noSQL-db that natively ingests a wide range of document types and formats. It has been open-sourced through a grant from </a:t>
            </a:r>
            <a:r>
              <a:rPr i="0" u="sng">
                <a:solidFill>
                  <a:srgbClr val="0000FF"/>
                </a:solidFill>
                <a:uFill>
                  <a:solidFill>
                    <a:srgbClr val="0000FF"/>
                  </a:solidFill>
                </a:uFill>
                <a:hlinkClick r:id="rId3" invalidUrl="" action="" tgtFrame="" tooltip="" history="1" highlightClick="0" endSnd="0"/>
              </a:rPr>
              <a:t>Nlnet/NGI-Zero Search</a:t>
            </a:r>
            <a:r>
              <a:rPr i="0"/>
              <a:t>.</a:t>
            </a:r>
          </a:p>
          <a:p>
            <a:pPr defTabSz="450215">
              <a:lnSpc>
                <a:spcPct val="120000"/>
              </a:lnSpc>
              <a:spcBef>
                <a:spcPts val="1400"/>
              </a:spcBef>
              <a:defRPr b="0" sz="4300">
                <a:latin typeface="+mj-lt"/>
                <a:ea typeface="+mj-ea"/>
                <a:cs typeface="+mj-cs"/>
                <a:sym typeface="Helvetica"/>
              </a:defRPr>
            </a:pPr>
          </a:p>
          <a:p>
            <a:pPr defTabSz="450215">
              <a:lnSpc>
                <a:spcPct val="120000"/>
              </a:lnSpc>
              <a:spcBef>
                <a:spcPts val="1400"/>
              </a:spcBef>
              <a:defRPr b="0" sz="5300"/>
            </a:pPr>
            <a:r>
              <a:t>See our talk from FOSDEM ‘22: </a:t>
            </a:r>
            <a:r>
              <a:rPr u="sng">
                <a:solidFill>
                  <a:srgbClr val="0000FF"/>
                </a:solidFill>
                <a:uFill>
                  <a:solidFill>
                    <a:srgbClr val="0000FF"/>
                  </a:solidFill>
                </a:uFill>
                <a:hlinkClick r:id="rId4" invalidUrl="" action="" tgtFrame="" tooltip="" history="1" highlightClick="0" endSnd="0"/>
              </a:rPr>
              <a:t>A lightning intro to re-Isearch</a:t>
            </a:r>
            <a:r>
              <a:rPr>
                <a:solidFill>
                  <a:srgbClr val="424242"/>
                </a:solidFill>
              </a:rPr>
              <a:t>.</a:t>
            </a:r>
            <a:endParaRPr>
              <a:solidFill>
                <a:srgbClr val="424242"/>
              </a:solidFill>
            </a:endParaRPr>
          </a:p>
          <a:p>
            <a:pPr defTabSz="450215">
              <a:lnSpc>
                <a:spcPct val="120000"/>
              </a:lnSpc>
              <a:spcBef>
                <a:spcPts val="1400"/>
              </a:spcBef>
              <a:defRPr b="0" sz="5300">
                <a:solidFill>
                  <a:srgbClr val="424242"/>
                </a:solidFill>
                <a:latin typeface="American Typewriter"/>
                <a:ea typeface="American Typewriter"/>
                <a:cs typeface="American Typewriter"/>
                <a:sym typeface="American Typewriter"/>
              </a:defRPr>
            </a:pPr>
            <a:r>
              <a:t>https://archive.fosdem.org/2022/schedule/event/lt_re_lsearch/</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89" name="(Re-)Isearch History"/>
          <p:cNvSpPr txBox="1"/>
          <p:nvPr>
            <p:ph type="title"/>
          </p:nvPr>
        </p:nvSpPr>
        <p:spPr>
          <a:xfrm>
            <a:off x="1206500" y="1079499"/>
            <a:ext cx="21971000" cy="1433165"/>
          </a:xfrm>
          <a:prstGeom prst="rect">
            <a:avLst/>
          </a:prstGeom>
        </p:spPr>
        <p:txBody>
          <a:bodyPr/>
          <a:lstStyle>
            <a:lvl1pPr>
              <a:defRPr spc="-200">
                <a:solidFill>
                  <a:schemeClr val="accent6"/>
                </a:solidFill>
              </a:defRPr>
            </a:lvl1pPr>
          </a:lstStyle>
          <a:p>
            <a:pPr/>
            <a:r>
              <a:t>(Re-)Isearch History</a:t>
            </a:r>
          </a:p>
        </p:txBody>
      </p:sp>
      <p:sp>
        <p:nvSpPr>
          <p:cNvPr id="190" name="The past 30 years"/>
          <p:cNvSpPr txBox="1"/>
          <p:nvPr>
            <p:ph type="body" sz="quarter" idx="1"/>
          </p:nvPr>
        </p:nvSpPr>
        <p:spPr>
          <a:xfrm>
            <a:off x="1206500" y="2372961"/>
            <a:ext cx="21971000" cy="934780"/>
          </a:xfrm>
          <a:prstGeom prst="rect">
            <a:avLst/>
          </a:prstGeom>
        </p:spPr>
        <p:txBody>
          <a:bodyPr/>
          <a:lstStyle/>
          <a:p>
            <a:pPr/>
            <a:r>
              <a:t>The past 30 years</a:t>
            </a:r>
          </a:p>
        </p:txBody>
      </p:sp>
      <p:sp>
        <p:nvSpPr>
          <p:cNvPr id="191" name="Isearch was a legendary open-source text retrieval software first developed in 1994 as part of the Isite Z39.50 information framework with support from NSF.…"/>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marL="438912" indent="-438912" defTabSz="1755604">
              <a:spcBef>
                <a:spcPts val="3200"/>
              </a:spcBef>
              <a:defRPr sz="3400"/>
            </a:pPr>
            <a:r>
              <a:t>Isearch was a legendary open-source text retrieval software first developed in 1994 as part of the Isite Z39.50 information framework with support from NSF.</a:t>
            </a:r>
          </a:p>
          <a:p>
            <a:pPr marL="438912" indent="-438912" defTabSz="1755604">
              <a:spcBef>
                <a:spcPts val="3200"/>
              </a:spcBef>
              <a:defRPr sz="3400"/>
            </a:pPr>
            <a:r>
              <a:t>Development was divided between CNDIR/MCNC (North Carolina, USA) and Bsn (Munich, Germany).</a:t>
            </a:r>
          </a:p>
          <a:p>
            <a:pPr marL="438912" indent="-438912" defTabSz="1755604">
              <a:spcBef>
                <a:spcPts val="3200"/>
              </a:spcBef>
              <a:defRPr sz="3400"/>
            </a:pPr>
            <a:r>
              <a:t>In 1998 BSn launched a proprietary fork called IB using new algorithms that significantly improved performance and power. </a:t>
            </a:r>
          </a:p>
          <a:p>
            <a:pPr marL="438912" indent="-438912" defTabSz="1755604">
              <a:spcBef>
                <a:spcPts val="3200"/>
              </a:spcBef>
              <a:defRPr sz="3400"/>
            </a:pPr>
            <a:r>
              <a:t>IB development shifted to BSn’s research arm: NONMONOTONIC Lab. In was deployed in 100s of high profile sites though BSn projects as well as partners.</a:t>
            </a:r>
          </a:p>
          <a:p>
            <a:pPr marL="438912" indent="-438912" defTabSz="1755604">
              <a:spcBef>
                <a:spcPts val="3200"/>
              </a:spcBef>
              <a:defRPr sz="3400"/>
            </a:pPr>
            <a:r>
              <a:t>In 2011 Bsn/NONMONOTONIC's proprietary fork ceased with Ed Zimmermann leaving his active role in BSn and joining CIB.</a:t>
            </a:r>
          </a:p>
          <a:p>
            <a:pPr marL="438912" indent="-438912" defTabSz="1755604">
              <a:spcBef>
                <a:spcPts val="3200"/>
              </a:spcBef>
              <a:defRPr sz="3400"/>
            </a:pPr>
            <a:r>
              <a:t>The software moved to the proverbial attic.</a:t>
            </a:r>
          </a:p>
          <a:p>
            <a:pPr marL="438912" indent="-438912" defTabSz="1755604">
              <a:spcBef>
                <a:spcPts val="3200"/>
              </a:spcBef>
              <a:defRPr sz="3400"/>
            </a:pPr>
            <a:r>
              <a:t>Even ten years on from End-of-Development and despite lack of support some servers were still running!??? Don't break a working system.....</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93" name="Who used it? Among others…"/>
          <p:cNvSpPr txBox="1"/>
          <p:nvPr>
            <p:ph type="title"/>
          </p:nvPr>
        </p:nvSpPr>
        <p:spPr>
          <a:xfrm>
            <a:off x="1206500" y="1079499"/>
            <a:ext cx="21971000" cy="1433165"/>
          </a:xfrm>
          <a:prstGeom prst="rect">
            <a:avLst/>
          </a:prstGeom>
        </p:spPr>
        <p:txBody>
          <a:bodyPr/>
          <a:lstStyle>
            <a:lvl1pPr>
              <a:defRPr spc="-200"/>
            </a:lvl1pPr>
          </a:lstStyle>
          <a:p>
            <a:pPr/>
            <a:r>
              <a:t>Who used it? Among others…</a:t>
            </a:r>
          </a:p>
        </p:txBody>
      </p:sp>
      <p:sp>
        <p:nvSpPr>
          <p:cNvPr id="194" name="The U.S. Patent and Trademark Office (USPTO) patent search, the Federal Geographic Data Clearinghouse (FGDC), the NASA Global Change Master Directory, the NASA EOS Guide System, the NASA Catalog Interoperability Project, the astronomical pre-print servic"/>
          <p:cNvSpPr txBox="1"/>
          <p:nvPr>
            <p:ph type="body" idx="1"/>
          </p:nvPr>
        </p:nvSpPr>
        <p:spPr>
          <a:xfrm>
            <a:off x="1206500" y="2372961"/>
            <a:ext cx="21971000" cy="10596545"/>
          </a:xfrm>
          <a:prstGeom prst="rect">
            <a:avLst/>
          </a:prstGeom>
        </p:spPr>
        <p:txBody>
          <a:bodyPr/>
          <a:lstStyle>
            <a:lvl1pPr defTabSz="594359">
              <a:defRPr sz="3900">
                <a:solidFill>
                  <a:schemeClr val="accent6"/>
                </a:solidFill>
              </a:defRPr>
            </a:lvl1pPr>
          </a:lstStyle>
          <a:p>
            <a:pPr/>
            <a:r>
              <a:t>The U.S. Patent and Trademark Office (USPTO) patent search, the Federal Geographic Data Clearinghouse (FGDC), the NASA Global Change Master Directory, the NASA EOS Guide System, the NASA Catalog Interoperability Project, the astronomical pre-print service based at the Space Telescope Science Institute, The PCT Electronic Gazette at the World Intellectual Property Organization (WIPO), the SAGE Project of the Special Collections Department at Emory University, Eco Companion Australasia (an environmental geospatial resources catalog), the Open Directory Project, genomic search for the Australian National Genomic Information Service's (ANGIS) human genome project (and its eBiotechnology workbench split-off); the D-A-S-H search portal against racism, antisemitism and exclusion (funded within the framework of the action program "Youth for tolerance and democracy - against right-wing extremism, xenophobia and anti-Semitism", the YOUTH program of the European Community and with additional support from the German Federal Agency for Civic Education); the e-government search (Yeehaw) of the U.S. State of Utah to agronomic cooperation across the Mediterranean region (supported by the EU’s DG). Integrated into a number of CMS platforms it powered search for a number of high volume web sites. It was also used as a database accelerator by a number of eCommerce shops.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96" name="Re-Isearch. Legendary Isearch re-born."/>
          <p:cNvSpPr txBox="1"/>
          <p:nvPr>
            <p:ph type="title"/>
          </p:nvPr>
        </p:nvSpPr>
        <p:spPr>
          <a:xfrm>
            <a:off x="1206500" y="1077359"/>
            <a:ext cx="21971000" cy="1433165"/>
          </a:xfrm>
          <a:prstGeom prst="rect">
            <a:avLst/>
          </a:prstGeom>
        </p:spPr>
        <p:txBody>
          <a:bodyPr/>
          <a:lstStyle>
            <a:lvl1pPr>
              <a:defRPr spc="-200">
                <a:solidFill>
                  <a:schemeClr val="accent6"/>
                </a:solidFill>
              </a:defRPr>
            </a:lvl1pPr>
          </a:lstStyle>
          <a:p>
            <a:pPr/>
            <a:r>
              <a:t>Re-Isearch. Legendary Isearch re-born.</a:t>
            </a:r>
          </a:p>
        </p:txBody>
      </p:sp>
      <p:sp>
        <p:nvSpPr>
          <p:cNvPr id="197" name="Reborn in 2020 in the middle of the global Covid19 pandemic as Project re-Isearch catalysed by a grant from Nlnet/NGI-Zero. Like the original it is not just about textual words but pushes the envelope."/>
          <p:cNvSpPr txBox="1"/>
          <p:nvPr>
            <p:ph type="body" sz="quarter" idx="1"/>
          </p:nvPr>
        </p:nvSpPr>
        <p:spPr>
          <a:xfrm>
            <a:off x="1206500" y="2373700"/>
            <a:ext cx="21971000" cy="1433165"/>
          </a:xfrm>
          <a:prstGeom prst="rect">
            <a:avLst/>
          </a:prstGeom>
        </p:spPr>
        <p:txBody>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3200">
                <a:solidFill>
                  <a:srgbClr val="EE230C"/>
                </a:solidFill>
                <a:latin typeface="+mj-lt"/>
                <a:ea typeface="+mj-ea"/>
                <a:cs typeface="+mj-cs"/>
                <a:sym typeface="Helvetica"/>
              </a:defRPr>
            </a:lvl1pPr>
          </a:lstStyle>
          <a:p>
            <a:pPr/>
            <a:r>
              <a:t>Reborn in 2020 in the middle of the global Covid19 pandemic as Project re-Isearch catalysed by a grant from Nlnet/NGI-Zero. Like the original it is not just about textual words but pushes the envelope. </a:t>
            </a:r>
          </a:p>
        </p:txBody>
      </p:sp>
      <p:sp>
        <p:nvSpPr>
          <p:cNvPr id="198" name="Its algorithms…"/>
          <p:cNvSpPr txBox="1"/>
          <p:nvPr>
            <p:ph type="body" idx="21"/>
          </p:nvPr>
        </p:nvSpPr>
        <p:spPr>
          <a:xfrm>
            <a:off x="1206500" y="3771784"/>
            <a:ext cx="21971000" cy="9209453"/>
          </a:xfrm>
          <a:prstGeom prst="rect">
            <a:avLst/>
          </a:prstGeom>
          <a:extLst>
            <a:ext uri="{C572A759-6A51-4108-AA02-DFA0A04FC94B}">
              <ma14:wrappingTextBoxFlag xmlns:ma14="http://schemas.microsoft.com/office/mac/drawingml/2011/main" val="1"/>
            </a:ext>
          </a:extLst>
        </p:spPr>
        <p:txBody>
          <a:bodyPr/>
          <a:lstStyle/>
          <a:p>
            <a:pPr marL="0" indent="0" defTabSz="1414235">
              <a:lnSpc>
                <a:spcPct val="80000"/>
              </a:lnSpc>
              <a:spcBef>
                <a:spcPts val="0"/>
              </a:spcBef>
              <a:buSzTx/>
              <a:buNone/>
              <a:defRPr b="1" spc="-100" sz="4900"/>
            </a:pPr>
            <a:r>
              <a:t>Its algorithms</a:t>
            </a:r>
            <a:endParaRPr spc="-97"/>
          </a:p>
          <a:p>
            <a:pPr marL="353568" indent="-353568" defTabSz="1414235">
              <a:spcBef>
                <a:spcPts val="2600"/>
              </a:spcBef>
              <a:defRPr sz="2700"/>
            </a:pPr>
            <a:r>
              <a:t>Based roughly on pat-arrays going back to the original work of Gonnet, Baeza-Yates, Uri Mamber et al.</a:t>
            </a:r>
          </a:p>
          <a:p>
            <a:pPr marL="353568" indent="-353568" defTabSz="1414235">
              <a:spcBef>
                <a:spcPts val="2600"/>
              </a:spcBef>
              <a:defRPr sz="2700"/>
            </a:pPr>
            <a:r>
              <a:t>The algorithm is accelerated by a simple trick: In contrast to depending just on the addresses it also stores a cache of the first X characters and the address range in the index to significantly save on system calls and I/O. Since this can be mapped into memory it super-scales to multiple processes accessing the same indexes.</a:t>
            </a:r>
          </a:p>
          <a:p>
            <a:pPr marL="353568" indent="-353568" defTabSz="1414235">
              <a:spcBef>
                <a:spcPts val="2600"/>
              </a:spcBef>
              <a:defRPr sz="2700"/>
            </a:pPr>
            <a:r>
              <a:t>Each word has a composite address made up from the address (key) of the file it is contained in, the file offset to the start of record (a file can contain multiple records) and the offset from the start of record to the start of the word.</a:t>
            </a:r>
          </a:p>
          <a:p>
            <a:pPr marL="353568" indent="-353568" defTabSz="1414235">
              <a:spcBef>
                <a:spcPts val="2600"/>
              </a:spcBef>
              <a:defRPr sz="2700"/>
            </a:pPr>
            <a:r>
              <a:t>Each field (container) instance encountered gets added in a separate file its start and end address stored. We use multiple files to better exploit individual file system features, configurations and the potential tuning thereof..</a:t>
            </a:r>
          </a:p>
          <a:p>
            <a:pPr marL="353568" indent="-353568" defTabSz="1414235">
              <a:spcBef>
                <a:spcPts val="2600"/>
              </a:spcBef>
              <a:defRPr sz="2700"/>
            </a:pPr>
            <a:r>
              <a:t>The vector of the pairs &lt;word, address&gt; is sorted by word. The address column is dumped to disk, the addresses whose words match the first and/or last X characters is dumped as &lt; word fragement, start offset, end offset&gt; where are offsets are into the index above.</a:t>
            </a:r>
          </a:p>
          <a:p>
            <a:pPr marL="353568" indent="-353568" defTabSz="1414235">
              <a:spcBef>
                <a:spcPts val="2600"/>
              </a:spcBef>
              <a:defRPr sz="2700"/>
            </a:pPr>
            <a:r>
              <a:t>The address of every word is stored and the address range of every field instance is stored.</a:t>
            </a:r>
          </a:p>
          <a:p>
            <a:pPr marL="353568" indent="-353568" defTabSz="1414235">
              <a:spcBef>
                <a:spcPts val="2600"/>
              </a:spcBef>
              <a:defRPr sz="2700"/>
            </a:pPr>
            <a:r>
              <a:t>An index file tracks the correlation of composite address to file and record.</a:t>
            </a:r>
          </a:p>
          <a:p>
            <a:pPr marL="353568" indent="-353568" defTabSz="1414235">
              <a:spcBef>
                <a:spcPts val="2600"/>
              </a:spcBef>
              <a:defRPr sz="2700"/>
            </a:pPr>
            <a:r>
              <a:t>Should a path/field/node be of an extended datatype, a handler parses the contents and adds it to a datatype optimised index (date, numerical, geospatial etc.).</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00" name="What does this deliver?"/>
          <p:cNvSpPr txBox="1"/>
          <p:nvPr>
            <p:ph type="title"/>
          </p:nvPr>
        </p:nvSpPr>
        <p:spPr>
          <a:xfrm>
            <a:off x="1206500" y="1079499"/>
            <a:ext cx="21971000" cy="1433165"/>
          </a:xfrm>
          <a:prstGeom prst="rect">
            <a:avLst/>
          </a:prstGeom>
        </p:spPr>
        <p:txBody>
          <a:bodyPr/>
          <a:lstStyle>
            <a:lvl1pPr>
              <a:defRPr spc="-200">
                <a:solidFill>
                  <a:schemeClr val="accent6"/>
                </a:solidFill>
              </a:defRPr>
            </a:lvl1pPr>
          </a:lstStyle>
          <a:p>
            <a:pPr/>
            <a:r>
              <a:t>What does this deliver?</a:t>
            </a:r>
          </a:p>
        </p:txBody>
      </p:sp>
      <p:sp>
        <p:nvSpPr>
          <p:cNvPr id="201" name="Unlimited term length, unlimited fields, wildcards and deep search"/>
          <p:cNvSpPr txBox="1"/>
          <p:nvPr>
            <p:ph type="body" sz="quarter" idx="1"/>
          </p:nvPr>
        </p:nvSpPr>
        <p:spPr>
          <a:xfrm>
            <a:off x="1206500" y="2372961"/>
            <a:ext cx="21971000" cy="934780"/>
          </a:xfrm>
          <a:prstGeom prst="rect">
            <a:avLst/>
          </a:prstGeom>
        </p:spPr>
        <p:txBody>
          <a:bodyPr/>
          <a:lstStyle>
            <a:lvl1pPr defTabSz="817244">
              <a:defRPr sz="5400"/>
            </a:lvl1pPr>
          </a:lstStyle>
          <a:p>
            <a:pPr/>
            <a:r>
              <a:t>Unlimited term length, unlimited fields, wildcards and deep search</a:t>
            </a:r>
          </a:p>
        </p:txBody>
      </p:sp>
      <p:sp>
        <p:nvSpPr>
          <p:cNvPr id="202" name="For every word we have an address and can open the file and read it. The word could have been encoded. No general need for an intermediate file store (such as JSON). How it was encoded we know from index time and can have classes that are responsible for"/>
          <p:cNvSpPr txBox="1"/>
          <p:nvPr>
            <p:ph type="body" idx="21"/>
          </p:nvPr>
        </p:nvSpPr>
        <p:spPr>
          <a:xfrm>
            <a:off x="1206500" y="3348004"/>
            <a:ext cx="21971000" cy="9634643"/>
          </a:xfrm>
          <a:prstGeom prst="rect">
            <a:avLst/>
          </a:prstGeom>
          <a:extLst>
            <a:ext uri="{C572A759-6A51-4108-AA02-DFA0A04FC94B}">
              <ma14:wrappingTextBoxFlag xmlns:ma14="http://schemas.microsoft.com/office/mac/drawingml/2011/main" val="1"/>
            </a:ext>
          </a:extLst>
        </p:spPr>
        <p:txBody>
          <a:bodyPr/>
          <a:lstStyle/>
          <a:p>
            <a:pPr marL="548638" indent="-548638" defTabSz="2194505">
              <a:spcBef>
                <a:spcPts val="4000"/>
              </a:spcBef>
              <a:defRPr sz="4300"/>
            </a:pPr>
            <a:r>
              <a:t>For every word we have an address and can open the file and read it. The word could have been encoded. No general need for an intermediate file store (such as JSON). How it was encoded we know from index time and can have classes that are responsible for handling the document format do the right magic.</a:t>
            </a:r>
          </a:p>
          <a:p>
            <a:pPr marL="548638" indent="-548638" defTabSz="2194505">
              <a:spcBef>
                <a:spcPts val="4000"/>
              </a:spcBef>
              <a:defRPr sz="4300"/>
            </a:pPr>
            <a:r>
              <a:t>Since we know the addresses in all our fields (paths) we can find the paths for any word.</a:t>
            </a:r>
          </a:p>
          <a:p>
            <a:pPr marL="548638" indent="-548638" defTabSz="2194505">
              <a:spcBef>
                <a:spcPts val="4000"/>
              </a:spcBef>
              <a:defRPr sz="4300"/>
            </a:pPr>
            <a:r>
              <a:t>This lets us, for example, not just search for words in a specific field, a specific path but also for words in the same container without knowing its name or path.</a:t>
            </a:r>
          </a:p>
          <a:p>
            <a:pPr marL="548638" indent="-548638" defTabSz="2194505">
              <a:spcBef>
                <a:spcPts val="4000"/>
              </a:spcBef>
              <a:defRPr sz="4300"/>
            </a:pPr>
            <a:r>
              <a:t>Since we can read the original file we can also search for unlimited length literals using any wildcard or regex scheme of our dreams—even applied to field names and paths.</a:t>
            </a:r>
          </a:p>
          <a:p>
            <a:pPr marL="548638" indent="-548638" defTabSz="2194505">
              <a:spcBef>
                <a:spcPts val="4000"/>
              </a:spcBef>
              <a:defRPr sz="4300"/>
            </a:pPr>
            <a:r>
              <a:t>We can even go the other way and ask: what words are in a given field or path instance?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04" name="Since the hierarchical structure of a document is modelled we can walk up (parent) and down (children) from any point in its tree without need to re-parse.…"/>
          <p:cNvSpPr txBox="1"/>
          <p:nvPr>
            <p:ph type="body" idx="1"/>
          </p:nvPr>
        </p:nvSpPr>
        <p:spPr>
          <a:xfrm>
            <a:off x="1206500" y="1211484"/>
            <a:ext cx="21971000" cy="11293032"/>
          </a:xfrm>
          <a:prstGeom prst="rect">
            <a:avLst/>
          </a:prstGeom>
        </p:spPr>
        <p:txBody>
          <a:bodyPr lIns="50800" tIns="50800" rIns="50800" bIns="50800"/>
          <a:lstStyle/>
          <a:p>
            <a:pPr marL="609600" indent="-609600" defTabSz="2438337">
              <a:lnSpc>
                <a:spcPct val="90000"/>
              </a:lnSpc>
              <a:spcBef>
                <a:spcPts val="4500"/>
              </a:spcBef>
              <a:buSzPct val="123000"/>
              <a:buChar char="•"/>
              <a:defRPr b="0" sz="4800"/>
            </a:pPr>
            <a:r>
              <a:t>Since the hierarchical structure of a document is modelled we can walk up (parent) and down (children) from any point in its tree without need to re-parse.</a:t>
            </a:r>
          </a:p>
          <a:p>
            <a:pPr marL="609600" indent="-609600" defTabSz="2438337">
              <a:lnSpc>
                <a:spcPct val="90000"/>
              </a:lnSpc>
              <a:spcBef>
                <a:spcPts val="4500"/>
              </a:spcBef>
              <a:buSzPct val="123000"/>
              <a:buChar char="•"/>
              <a:defRPr b="0" sz="4800"/>
            </a:pPr>
            <a:r>
              <a:t>Since we know all the words and the structure we can even at search reconstitute an alternative encoding without needed to re-parse the original. Its just load and translate using the extracted structure and addresses from the indexing stage.</a:t>
            </a:r>
          </a:p>
          <a:p>
            <a:pPr marL="609600" indent="-609600" defTabSz="2438337">
              <a:lnSpc>
                <a:spcPct val="90000"/>
              </a:lnSpc>
              <a:spcBef>
                <a:spcPts val="4500"/>
              </a:spcBef>
              <a:buSzPct val="123000"/>
              <a:buChar char="•"/>
              <a:defRPr b="0" sz="4800"/>
            </a:pPr>
            <a:r>
              <a:t>Throw in multiple polymorphic datatypes with their own search and ranking algorithms…</a:t>
            </a:r>
          </a:p>
          <a:p>
            <a:pPr marL="609600" indent="-609600" defTabSz="2438337">
              <a:lnSpc>
                <a:spcPct val="90000"/>
              </a:lnSpc>
              <a:spcBef>
                <a:spcPts val="4500"/>
              </a:spcBef>
              <a:buSzPct val="123000"/>
              <a:buChar char="•"/>
              <a:defRPr b="0" sz="4800"/>
            </a:pPr>
            <a:r>
              <a:t>And through a grant from Prototype Fund Germany (BMBF/German Federal Ministry of Education and Research) support for indexing objects in the remote Web (http/https) and IPFS (Interplanetary File System)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06" name="Exploiting Structure"/>
          <p:cNvSpPr txBox="1"/>
          <p:nvPr>
            <p:ph type="title"/>
          </p:nvPr>
        </p:nvSpPr>
        <p:spPr>
          <a:xfrm>
            <a:off x="1206500" y="1079499"/>
            <a:ext cx="21971000" cy="1433165"/>
          </a:xfrm>
          <a:prstGeom prst="rect">
            <a:avLst/>
          </a:prstGeom>
        </p:spPr>
        <p:txBody>
          <a:bodyPr/>
          <a:lstStyle>
            <a:lvl1pPr>
              <a:defRPr spc="-200">
                <a:solidFill>
                  <a:schemeClr val="accent6"/>
                </a:solidFill>
              </a:defRPr>
            </a:lvl1pPr>
          </a:lstStyle>
          <a:p>
            <a:pPr/>
            <a:r>
              <a:t>Exploiting Structure</a:t>
            </a:r>
          </a:p>
        </p:txBody>
      </p:sp>
      <p:sp>
        <p:nvSpPr>
          <p:cNvPr id="207" name="(Explicit and Implicit)"/>
          <p:cNvSpPr txBox="1"/>
          <p:nvPr>
            <p:ph type="body" sz="quarter" idx="1"/>
          </p:nvPr>
        </p:nvSpPr>
        <p:spPr>
          <a:xfrm>
            <a:off x="1206500" y="2372961"/>
            <a:ext cx="21971000" cy="934780"/>
          </a:xfrm>
          <a:prstGeom prst="rect">
            <a:avLst/>
          </a:prstGeom>
        </p:spPr>
        <p:txBody>
          <a:bodyPr/>
          <a:lstStyle/>
          <a:p>
            <a:pPr/>
            <a:r>
              <a:t>(Explicit and Implicit)</a:t>
            </a:r>
          </a:p>
        </p:txBody>
      </p:sp>
      <p:sp>
        <p:nvSpPr>
          <p:cNvPr id="208" name="The re-Isearch engine exploits document structure, both implicit (XML and other markup) and explicit (visual groupings such as paragraph), to zero in on relevant sections of documents, not just links to documents. These are a heterogeneous mix of text, 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marL="0" indent="0" defTabSz="445711">
              <a:lnSpc>
                <a:spcPct val="120000"/>
              </a:lnSpc>
              <a:spcBef>
                <a:spcPts val="1400"/>
              </a:spcBef>
              <a:buSzTx/>
              <a:buNone/>
              <a:defRPr sz="4300">
                <a:latin typeface="+mj-lt"/>
                <a:ea typeface="+mj-ea"/>
                <a:cs typeface="+mj-cs"/>
                <a:sym typeface="Helvetica"/>
              </a:defRPr>
            </a:pPr>
            <a:r>
              <a:t>The re-Isearch engine exploits document structure, both implicit (XML and other markup) and explicit (visual groupings such as paragraph), to zero in on relevant sections of documents, not just links to documents. These are</a:t>
            </a:r>
            <a:r>
              <a:rPr>
                <a:solidFill>
                  <a:srgbClr val="424242"/>
                </a:solidFill>
              </a:rPr>
              <a:t> a heterogeneous mix of text, data (a </a:t>
            </a:r>
            <a:r>
              <a:rPr u="sng">
                <a:solidFill>
                  <a:srgbClr val="0000FF"/>
                </a:solidFill>
                <a:uFill>
                  <a:solidFill>
                    <a:srgbClr val="0000FF"/>
                  </a:solidFill>
                </a:uFill>
                <a:hlinkClick r:id="rId3" invalidUrl="" action="" tgtFrame="" tooltip="" history="1" highlightClick="0" endSnd="0"/>
              </a:rPr>
              <a:t>large number of datatypes</a:t>
            </a:r>
            <a:r>
              <a:rPr>
                <a:solidFill>
                  <a:srgbClr val="424242"/>
                </a:solidFill>
              </a:rPr>
              <a:t> including: numerical, computed, range, date, time, geo, boolean etc. as well as a number of hashes including several phonetic), network objects and databases. These datatypes have their own, for their individual datatypes, storage and retrieval algorithms (including relevant ranking and similarity methods).</a:t>
            </a:r>
            <a:endParaRPr>
              <a:solidFill>
                <a:srgbClr val="424242"/>
              </a:solidFill>
            </a:endParaRPr>
          </a:p>
          <a:p>
            <a:pPr marL="0" indent="0" defTabSz="445711">
              <a:lnSpc>
                <a:spcPct val="120000"/>
              </a:lnSpc>
              <a:spcBef>
                <a:spcPts val="1400"/>
              </a:spcBef>
              <a:buSzTx/>
              <a:buNone/>
              <a:defRPr b="1" sz="4300">
                <a:solidFill>
                  <a:srgbClr val="424242"/>
                </a:solidFill>
                <a:latin typeface="+mj-lt"/>
                <a:ea typeface="+mj-ea"/>
                <a:cs typeface="+mj-cs"/>
                <a:sym typeface="Helvetica"/>
              </a:defRPr>
            </a:pPr>
            <a:r>
              <a:t>Project Schmate</a:t>
            </a:r>
            <a:r>
              <a:rPr>
                <a:solidFill>
                  <a:srgbClr val="000000"/>
                </a:solidFill>
              </a:rPr>
              <a:t> </a:t>
            </a:r>
            <a:r>
              <a:t>intends to extend re-Isearch with vector datatypes tuned for embeddings and using structure not just for chunking but for a more optimal passage retrieval.</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10" name="Why do we need/want “semantic search”— embeddings (dense vectors)? Are not “keywords” enough?"/>
          <p:cNvSpPr txBox="1"/>
          <p:nvPr>
            <p:ph type="title"/>
          </p:nvPr>
        </p:nvSpPr>
        <p:spPr>
          <a:xfrm>
            <a:off x="1206495" y="2304601"/>
            <a:ext cx="21971006" cy="9106798"/>
          </a:xfrm>
          <a:prstGeom prst="rect">
            <a:avLst/>
          </a:prstGeom>
        </p:spPr>
        <p:txBody>
          <a:bodyPr/>
          <a:lstStyle>
            <a:lvl1pPr>
              <a:defRPr spc="-300">
                <a:solidFill>
                  <a:schemeClr val="accent6"/>
                </a:solidFill>
              </a:defRPr>
            </a:lvl1pPr>
          </a:lstStyle>
          <a:p>
            <a:pPr/>
            <a:r>
              <a:t>Why do we need/want “semantic search”— embeddings (dense vectors)? Are not “keywords” enough?</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12" name="Semantic Search"/>
          <p:cNvSpPr txBox="1"/>
          <p:nvPr>
            <p:ph type="title"/>
          </p:nvPr>
        </p:nvSpPr>
        <p:spPr>
          <a:xfrm>
            <a:off x="1206500" y="1079499"/>
            <a:ext cx="21971000" cy="1433165"/>
          </a:xfrm>
          <a:prstGeom prst="rect">
            <a:avLst/>
          </a:prstGeom>
        </p:spPr>
        <p:txBody>
          <a:bodyPr/>
          <a:lstStyle>
            <a:lvl1pPr>
              <a:defRPr spc="-200">
                <a:solidFill>
                  <a:schemeClr val="accent6"/>
                </a:solidFill>
              </a:defRPr>
            </a:lvl1pPr>
          </a:lstStyle>
          <a:p>
            <a:pPr/>
            <a:r>
              <a:t>Semantic Search</a:t>
            </a:r>
          </a:p>
        </p:txBody>
      </p:sp>
      <p:sp>
        <p:nvSpPr>
          <p:cNvPr id="213" name="Improved relevance: By understanding the meaning behind a search query, especially complex or ambiguous ones, search engines can deliver more relevant results. This means users are more likely to find exactly what they're looking for on the first try.…"/>
          <p:cNvSpPr txBox="1"/>
          <p:nvPr>
            <p:ph type="body" idx="1"/>
          </p:nvPr>
        </p:nvSpPr>
        <p:spPr>
          <a:xfrm>
            <a:off x="1206500" y="3084457"/>
            <a:ext cx="21971000" cy="9420060"/>
          </a:xfrm>
          <a:prstGeom prst="rect">
            <a:avLst/>
          </a:prstGeom>
        </p:spPr>
        <p:txBody>
          <a:bodyPr lIns="50800" tIns="50800" rIns="50800" bIns="50800"/>
          <a:lstStyle/>
          <a:p>
            <a:pPr marL="609600" indent="-609600" defTabSz="2438337">
              <a:lnSpc>
                <a:spcPct val="90000"/>
              </a:lnSpc>
              <a:spcBef>
                <a:spcPts val="4500"/>
              </a:spcBef>
              <a:buSzPct val="123000"/>
              <a:buChar char="•"/>
              <a:defRPr sz="4800">
                <a:solidFill>
                  <a:srgbClr val="040C28"/>
                </a:solidFill>
              </a:defRPr>
            </a:pPr>
            <a:r>
              <a:t>Improved relevance</a:t>
            </a:r>
            <a:r>
              <a:rPr b="0">
                <a:solidFill>
                  <a:srgbClr val="000000"/>
                </a:solidFill>
              </a:rPr>
              <a:t>: By understanding the meaning behind a search query, especially complex or ambiguous ones, search engines can deliver more relevant results. This means users are more likely to find exactly what they're looking for on the first try.</a:t>
            </a:r>
            <a:endParaRPr b="0"/>
          </a:p>
          <a:p>
            <a:pPr marL="609600" indent="-609600" defTabSz="2438337">
              <a:lnSpc>
                <a:spcPct val="90000"/>
              </a:lnSpc>
              <a:spcBef>
                <a:spcPts val="4500"/>
              </a:spcBef>
              <a:buSzPct val="123000"/>
              <a:buChar char="•"/>
              <a:defRPr sz="4800"/>
            </a:pPr>
            <a:r>
              <a:t>Enhanced user experience</a:t>
            </a:r>
            <a:r>
              <a:rPr b="0"/>
              <a:t>: When search results are highly relevant, users have a more satisfying experience. They can quickly find the information they need without wading through pages of irrelevant links.</a:t>
            </a:r>
            <a:endParaRPr b="0"/>
          </a:p>
          <a:p>
            <a:pPr marL="609600" indent="-609600" defTabSz="2438337">
              <a:lnSpc>
                <a:spcPct val="90000"/>
              </a:lnSpc>
              <a:spcBef>
                <a:spcPts val="4500"/>
              </a:spcBef>
              <a:buSzPct val="123000"/>
              <a:buChar char="•"/>
              <a:defRPr b="0" sz="4800"/>
            </a:pPr>
            <a:r>
              <a:t>I</a:t>
            </a:r>
            <a:r>
              <a:rPr b="1"/>
              <a:t>ncreased engagement:</a:t>
            </a:r>
            <a:r>
              <a:t> Relevance is key to engagement. When users find what they are looking for, they are more likely to spend time interacting with the content since they more quickly find what they’re looking for.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15" name="Large Language Models as Search Ersatz?"/>
          <p:cNvSpPr txBox="1"/>
          <p:nvPr>
            <p:ph type="title"/>
          </p:nvPr>
        </p:nvSpPr>
        <p:spPr>
          <a:xfrm>
            <a:off x="1206500" y="1079499"/>
            <a:ext cx="21971000" cy="1433165"/>
          </a:xfrm>
          <a:prstGeom prst="rect">
            <a:avLst/>
          </a:prstGeom>
        </p:spPr>
        <p:txBody>
          <a:bodyPr/>
          <a:lstStyle>
            <a:lvl1pPr>
              <a:defRPr spc="-200">
                <a:solidFill>
                  <a:schemeClr val="accent6"/>
                </a:solidFill>
              </a:defRPr>
            </a:lvl1pPr>
          </a:lstStyle>
          <a:p>
            <a:pPr/>
            <a:r>
              <a:t>Large Language Models as Search Ersatz?</a:t>
            </a:r>
          </a:p>
        </p:txBody>
      </p:sp>
      <p:sp>
        <p:nvSpPr>
          <p:cNvPr id="216" name="Everyone by now has played around with them, be it Chat-GPT, Claude, Gemini, LLaMA, DeepSeek, … Many see them as an “ersatz” for traditional search engines. But ……"/>
          <p:cNvSpPr txBox="1"/>
          <p:nvPr>
            <p:ph type="body" idx="1"/>
          </p:nvPr>
        </p:nvSpPr>
        <p:spPr>
          <a:xfrm>
            <a:off x="1206500" y="3112086"/>
            <a:ext cx="21971000" cy="9392430"/>
          </a:xfrm>
          <a:prstGeom prst="rect">
            <a:avLst/>
          </a:prstGeom>
        </p:spPr>
        <p:txBody>
          <a:bodyPr lIns="50800" tIns="50800" rIns="50800" bIns="50800"/>
          <a:lstStyle/>
          <a:p>
            <a:pPr marL="499871" indent="-499871" defTabSz="1999437">
              <a:lnSpc>
                <a:spcPct val="90000"/>
              </a:lnSpc>
              <a:spcBef>
                <a:spcPts val="3600"/>
              </a:spcBef>
              <a:buSzPct val="123000"/>
              <a:buChar char="•"/>
              <a:defRPr b="0" sz="3900"/>
            </a:pPr>
            <a:r>
              <a:t>Everyone by now has played around with them, be it Chat-GPT, Claude, Gemini, LLaMA, DeepSeek, … Many see them as an “ersatz” for traditional search engines. But …</a:t>
            </a:r>
          </a:p>
          <a:p>
            <a:pPr marL="499871" indent="-499871" defTabSz="1999437">
              <a:lnSpc>
                <a:spcPct val="90000"/>
              </a:lnSpc>
              <a:spcBef>
                <a:spcPts val="3600"/>
              </a:spcBef>
              <a:buSzPct val="123000"/>
              <a:buChar char="•"/>
              <a:defRPr b="0" sz="3900"/>
            </a:pPr>
            <a:r>
              <a:t>Large language models only “know” what they have been trained on. Since the world does not stand they would need to be re-trained. This is computationally extremely expensive. </a:t>
            </a:r>
          </a:p>
          <a:p>
            <a:pPr marL="499871" indent="-499871" defTabSz="1999437">
              <a:lnSpc>
                <a:spcPct val="90000"/>
              </a:lnSpc>
              <a:spcBef>
                <a:spcPts val="3600"/>
              </a:spcBef>
              <a:buSzPct val="123000"/>
              <a:buChar char="•"/>
              <a:defRPr b="0" sz="3900"/>
            </a:pPr>
            <a:r>
              <a:t>LLMs have poor “memory” beyond the session (and there are often limits here too).</a:t>
            </a:r>
          </a:p>
          <a:p>
            <a:pPr marL="499871" indent="-499871" defTabSz="1999437">
              <a:lnSpc>
                <a:spcPct val="90000"/>
              </a:lnSpc>
              <a:spcBef>
                <a:spcPts val="3600"/>
              </a:spcBef>
              <a:buSzPct val="123000"/>
              <a:buChar char="•"/>
              <a:defRPr b="0" sz="3900"/>
            </a:pPr>
            <a:r>
              <a:t>Most of the foundational LLMs we tend to use have been trained by others. They don’t know “my data”.</a:t>
            </a:r>
          </a:p>
          <a:p>
            <a:pPr marL="499871" indent="-499871" defTabSz="1999437">
              <a:lnSpc>
                <a:spcPct val="90000"/>
              </a:lnSpc>
              <a:spcBef>
                <a:spcPts val="3600"/>
              </a:spcBef>
              <a:buSzPct val="123000"/>
              <a:buChar char="•"/>
              <a:defRPr b="0" sz="3900"/>
            </a:pPr>
            <a:r>
              <a:t>The answer is the </a:t>
            </a:r>
            <a:r>
              <a:rPr b="1"/>
              <a:t>R</a:t>
            </a:r>
            <a:r>
              <a:t>etrieval </a:t>
            </a:r>
            <a:r>
              <a:rPr b="1"/>
              <a:t>A</a:t>
            </a:r>
            <a:r>
              <a:t>ugmented </a:t>
            </a:r>
            <a:r>
              <a:rPr b="1"/>
              <a:t>G</a:t>
            </a:r>
            <a:r>
              <a:t>eneration paradigm. RAG fuses indexing technology with LLMs.</a:t>
            </a:r>
          </a:p>
          <a:p>
            <a:pPr marL="499871" indent="-499871" defTabSz="1999437">
              <a:lnSpc>
                <a:spcPct val="90000"/>
              </a:lnSpc>
              <a:spcBef>
                <a:spcPts val="3600"/>
              </a:spcBef>
              <a:buSzPct val="123000"/>
              <a:buChar char="•"/>
              <a:defRPr b="0" sz="3900"/>
            </a:pPr>
            <a:r>
              <a:t>RAG </a:t>
            </a:r>
            <a:r>
              <a:rPr>
                <a:solidFill>
                  <a:srgbClr val="040C28"/>
                </a:solidFill>
              </a:rPr>
              <a:t>allows developers to provide the latest research, statistics, or news to the generative models</a:t>
            </a:r>
            <a:r>
              <a:t>. They can use RAG to connect the LLM directly to live social media feeds, news sites, or other frequently-updated information sources. The LLM can then provide the latest information to the users.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18" name="What’s wrong with RAG then? Why Schmate??"/>
          <p:cNvSpPr txBox="1"/>
          <p:nvPr>
            <p:ph type="title"/>
          </p:nvPr>
        </p:nvSpPr>
        <p:spPr>
          <a:xfrm>
            <a:off x="1206495" y="4533900"/>
            <a:ext cx="21971006" cy="4648200"/>
          </a:xfrm>
          <a:prstGeom prst="rect">
            <a:avLst/>
          </a:prstGeom>
        </p:spPr>
        <p:txBody>
          <a:bodyPr/>
          <a:lstStyle>
            <a:lvl1pPr>
              <a:defRPr spc="-300">
                <a:solidFill>
                  <a:schemeClr val="accent6"/>
                </a:solidFill>
              </a:defRPr>
            </a:lvl1pPr>
          </a:lstStyle>
          <a:p>
            <a:pPr/>
            <a:r>
              <a:t>What’s wrong with RAG then? Why Schmate??</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20" name="Typical RAG challenges or why Re-Isearch+Schmatte for DPR?"/>
          <p:cNvSpPr txBox="1"/>
          <p:nvPr>
            <p:ph type="title"/>
          </p:nvPr>
        </p:nvSpPr>
        <p:spPr>
          <a:xfrm>
            <a:off x="1206500" y="1079499"/>
            <a:ext cx="21971000" cy="1433165"/>
          </a:xfrm>
          <a:prstGeom prst="rect">
            <a:avLst/>
          </a:prstGeom>
        </p:spPr>
        <p:txBody>
          <a:bodyPr/>
          <a:lstStyle>
            <a:lvl1pPr defTabSz="450215">
              <a:lnSpc>
                <a:spcPct val="120000"/>
              </a:lnSpc>
              <a:spcBef>
                <a:spcPts val="1400"/>
              </a:spcBef>
              <a:defRPr spc="0" sz="5000">
                <a:solidFill>
                  <a:schemeClr val="accent6"/>
                </a:solidFill>
              </a:defRPr>
            </a:lvl1pPr>
          </a:lstStyle>
          <a:p>
            <a:pPr/>
            <a:r>
              <a:t>Typical RAG challenges or why Re-Isearch+Schmatte for DPR?</a:t>
            </a:r>
          </a:p>
        </p:txBody>
      </p:sp>
      <p:sp>
        <p:nvSpPr>
          <p:cNvPr id="221" name="While creating a prototype RAG application is these days comparatively easy thanks to sites like LangChain and HuggingFace, making it work well much less performant, robust, or scalable to a large knowledge corpus has proven for many organizations as qui"/>
          <p:cNvSpPr txBox="1"/>
          <p:nvPr>
            <p:ph type="body" sz="quarter" idx="1"/>
          </p:nvPr>
        </p:nvSpPr>
        <p:spPr>
          <a:xfrm>
            <a:off x="1206500" y="2372961"/>
            <a:ext cx="21971000" cy="2239789"/>
          </a:xfrm>
          <a:prstGeom prst="rect">
            <a:avLst/>
          </a:prstGeom>
        </p:spPr>
        <p:txBody>
          <a:bodyPr/>
          <a:lstStyle>
            <a:lvl1pPr defTabSz="450215">
              <a:lnSpc>
                <a:spcPct val="120000"/>
              </a:lnSpc>
              <a:spcBef>
                <a:spcPts val="1400"/>
              </a:spcBef>
              <a:defRPr b="0" sz="3400">
                <a:solidFill>
                  <a:srgbClr val="006C65"/>
                </a:solidFill>
                <a:latin typeface="+mj-lt"/>
                <a:ea typeface="+mj-ea"/>
                <a:cs typeface="+mj-cs"/>
                <a:sym typeface="Helvetica"/>
              </a:defRPr>
            </a:lvl1pPr>
          </a:lstStyle>
          <a:p>
            <a:pPr/>
            <a:r>
              <a:t>While creating a prototype RAG application is these days comparatively easy thanks to sites like LangChain and HuggingFace, making it work well much less performant, robust, or scalable to a large knowledge corpus has proven for many organizations as quite difficult.</a:t>
            </a:r>
          </a:p>
        </p:txBody>
      </p:sp>
      <p:sp>
        <p:nvSpPr>
          <p:cNvPr id="222" name="Ingest…"/>
          <p:cNvSpPr txBox="1"/>
          <p:nvPr>
            <p:ph type="body" idx="21"/>
          </p:nvPr>
        </p:nvSpPr>
        <p:spPr>
          <a:xfrm>
            <a:off x="1428677" y="4878008"/>
            <a:ext cx="21971002" cy="7641985"/>
          </a:xfrm>
          <a:prstGeom prst="rect">
            <a:avLst/>
          </a:prstGeom>
          <a:extLst>
            <a:ext uri="{C572A759-6A51-4108-AA02-DFA0A04FC94B}">
              <ma14:wrappingTextBoxFlag xmlns:ma14="http://schemas.microsoft.com/office/mac/drawingml/2011/main" val="1"/>
            </a:ext>
          </a:extLst>
        </p:spPr>
        <p:txBody>
          <a:bodyPr/>
          <a:lstStyle/>
          <a:p>
            <a:pPr marL="889000" indent="-889000">
              <a:buSzPct val="100000"/>
              <a:buAutoNum type="arabicPeriod" startAt="1"/>
              <a:defRPr>
                <a:latin typeface="Impact"/>
                <a:ea typeface="Impact"/>
                <a:cs typeface="Impact"/>
                <a:sym typeface="Impact"/>
              </a:defRPr>
            </a:pPr>
            <a:r>
              <a:t>Ingest</a:t>
            </a:r>
            <a:endParaRPr b="1">
              <a:latin typeface="+mn-lt"/>
              <a:ea typeface="+mn-ea"/>
              <a:cs typeface="+mn-cs"/>
              <a:sym typeface="Helvetica Neue"/>
            </a:endParaRPr>
          </a:p>
          <a:p>
            <a:pPr lvl="1" marL="1778000" indent="-889000">
              <a:buSzPct val="100000"/>
              <a:buAutoNum type="alphaUcPeriod" startAt="1"/>
            </a:pPr>
            <a:r>
              <a:t>Data Extraction</a:t>
            </a:r>
          </a:p>
          <a:p>
            <a:pPr lvl="1" marL="1778000" indent="-889000">
              <a:buSzPct val="100000"/>
              <a:buAutoNum type="alphaUcPeriod" startAt="1"/>
            </a:pPr>
            <a:r>
              <a:t>Chunk size and chunking strategy</a:t>
            </a:r>
          </a:p>
          <a:p>
            <a:pPr lvl="1" marL="1778000" indent="-889000">
              <a:buSzPct val="100000"/>
              <a:buAutoNum type="alphaUcPeriod" startAt="1"/>
            </a:pPr>
            <a:r>
              <a:t>Robustness and scalability</a:t>
            </a:r>
          </a:p>
          <a:p>
            <a:pPr marL="889000" indent="-889000">
              <a:buSzPct val="100000"/>
              <a:buAutoNum type="arabicPeriod" startAt="1"/>
              <a:defRPr>
                <a:latin typeface="Impact"/>
                <a:ea typeface="Impact"/>
                <a:cs typeface="Impact"/>
                <a:sym typeface="Impact"/>
              </a:defRPr>
            </a:pPr>
            <a:r>
              <a:t>Search and Retrieval</a:t>
            </a:r>
          </a:p>
          <a:p>
            <a:pPr marL="889000" indent="-889000">
              <a:buSzPct val="100000"/>
              <a:buAutoNum type="arabicPeriod" startAt="1"/>
              <a:defRPr>
                <a:latin typeface="Impact"/>
                <a:ea typeface="Impact"/>
                <a:cs typeface="Impact"/>
                <a:sym typeface="Impact"/>
              </a:defRPr>
            </a:pPr>
            <a:r>
              <a:t>Data Security</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24" name="Ingest"/>
          <p:cNvSpPr txBox="1"/>
          <p:nvPr>
            <p:ph type="title"/>
          </p:nvPr>
        </p:nvSpPr>
        <p:spPr>
          <a:xfrm>
            <a:off x="1206500" y="1079499"/>
            <a:ext cx="21971000" cy="1433165"/>
          </a:xfrm>
          <a:prstGeom prst="rect">
            <a:avLst/>
          </a:prstGeom>
        </p:spPr>
        <p:txBody>
          <a:bodyPr/>
          <a:lstStyle>
            <a:lvl1pPr>
              <a:defRPr b="0" spc="-200">
                <a:solidFill>
                  <a:schemeClr val="accent6"/>
                </a:solidFill>
                <a:latin typeface="Impact"/>
                <a:ea typeface="Impact"/>
                <a:cs typeface="Impact"/>
                <a:sym typeface="Impact"/>
              </a:defRPr>
            </a:lvl1pPr>
          </a:lstStyle>
          <a:p>
            <a:pPr/>
            <a:r>
              <a:t>Ingest</a:t>
            </a:r>
          </a:p>
        </p:txBody>
      </p:sp>
      <p:sp>
        <p:nvSpPr>
          <p:cNvPr id="225" name="A) Extraction"/>
          <p:cNvSpPr txBox="1"/>
          <p:nvPr>
            <p:ph type="body" sz="quarter" idx="1"/>
          </p:nvPr>
        </p:nvSpPr>
        <p:spPr>
          <a:xfrm>
            <a:off x="1206500" y="2372961"/>
            <a:ext cx="21971000" cy="934780"/>
          </a:xfrm>
          <a:prstGeom prst="rect">
            <a:avLst/>
          </a:prstGeom>
        </p:spPr>
        <p:txBody>
          <a:bodyPr/>
          <a:lstStyle/>
          <a:p>
            <a:pPr/>
            <a:r>
              <a:t>A) Extraction</a:t>
            </a:r>
          </a:p>
        </p:txBody>
      </p:sp>
      <p:sp>
        <p:nvSpPr>
          <p:cNvPr id="226" name="Extracting data from diverse types of documents, such as emails, PDFs and office files such as ODF can be challenging. Documents have generally both explicit and implicit structure (text formats of what is typically called unstructured is not really with"/>
          <p:cNvSpPr txBox="1"/>
          <p:nvPr>
            <p:ph type="body" idx="21"/>
          </p:nvPr>
        </p:nvSpPr>
        <p:spPr>
          <a:xfrm>
            <a:off x="1206500" y="3634261"/>
            <a:ext cx="21971000" cy="8870255"/>
          </a:xfrm>
          <a:prstGeom prst="rect">
            <a:avLst/>
          </a:prstGeom>
          <a:extLst>
            <a:ext uri="{C572A759-6A51-4108-AA02-DFA0A04FC94B}">
              <ma14:wrappingTextBoxFlag xmlns:ma14="http://schemas.microsoft.com/office/mac/drawingml/2011/main" val="1"/>
            </a:ext>
          </a:extLst>
        </p:spPr>
        <p:txBody>
          <a:bodyPr/>
          <a:lstStyle/>
          <a:p>
            <a:pPr marL="0" indent="0">
              <a:buSzTx/>
              <a:buNone/>
              <a:defRPr sz="5800"/>
            </a:pPr>
            <a:r>
              <a:t>Extracting data from diverse types of documents, such as emails, PDFs and office files such as ODF can be challenging. Documents have generally both </a:t>
            </a:r>
            <a:r>
              <a:rPr b="1"/>
              <a:t>explicit</a:t>
            </a:r>
            <a:r>
              <a:t> and </a:t>
            </a:r>
            <a:r>
              <a:rPr b="1"/>
              <a:t>implicit</a:t>
            </a:r>
            <a:r>
              <a:t> structure (text formats of what is typically called unstructured is not really without structure).  The re-Isearch engine already understands these (and more than 80 base types and with these 100s more and with a plugin-in architecture easily extended to support new formats).</a:t>
            </a:r>
          </a:p>
          <a:p>
            <a:pPr marL="0" indent="0">
              <a:buSzTx/>
              <a:buNone/>
              <a:defRPr sz="5800"/>
            </a:pPr>
            <a:r>
              <a:t>Our ODF parser is, for example, the absolute state-of-the-art: the fastest and most accurate (created in coordination with the OASIS ODF TC).</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28" name="Ingest"/>
          <p:cNvSpPr txBox="1"/>
          <p:nvPr>
            <p:ph type="title"/>
          </p:nvPr>
        </p:nvSpPr>
        <p:spPr>
          <a:xfrm>
            <a:off x="1206500" y="1079499"/>
            <a:ext cx="21971000" cy="1433165"/>
          </a:xfrm>
          <a:prstGeom prst="rect">
            <a:avLst/>
          </a:prstGeom>
        </p:spPr>
        <p:txBody>
          <a:bodyPr/>
          <a:lstStyle>
            <a:lvl1pPr>
              <a:defRPr b="0" spc="-200">
                <a:solidFill>
                  <a:schemeClr val="accent6"/>
                </a:solidFill>
                <a:latin typeface="Impact"/>
                <a:ea typeface="Impact"/>
                <a:cs typeface="Impact"/>
                <a:sym typeface="Impact"/>
              </a:defRPr>
            </a:lvl1pPr>
          </a:lstStyle>
          <a:p>
            <a:pPr/>
            <a:r>
              <a:t>Ingest</a:t>
            </a:r>
          </a:p>
        </p:txBody>
      </p:sp>
      <p:sp>
        <p:nvSpPr>
          <p:cNvPr id="229" name="B) Chunking"/>
          <p:cNvSpPr txBox="1"/>
          <p:nvPr>
            <p:ph type="body" sz="quarter" idx="1"/>
          </p:nvPr>
        </p:nvSpPr>
        <p:spPr>
          <a:xfrm>
            <a:off x="1206500" y="2372961"/>
            <a:ext cx="21971000" cy="934780"/>
          </a:xfrm>
          <a:prstGeom prst="rect">
            <a:avLst/>
          </a:prstGeom>
        </p:spPr>
        <p:txBody>
          <a:bodyPr/>
          <a:lstStyle/>
          <a:p>
            <a:pPr/>
            <a:r>
              <a:t>B) Chunking</a:t>
            </a:r>
          </a:p>
        </p:txBody>
      </p:sp>
      <p:sp>
        <p:nvSpPr>
          <p:cNvPr id="230" name="Our approach is variant of context-aware chunking that also takes the hierarchical structure of text into account. It contains a computationally more modest approach than “agenic” (which uses a LLM to determine chunks) to find better context matches by u"/>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marL="0" indent="0">
              <a:buSzTx/>
              <a:buNone/>
              <a:defRPr b="1" sz="5800"/>
            </a:pPr>
            <a:r>
              <a:t>Our approach is variant of context-aware chunking that also takes the hierarchical structure of text into account.</a:t>
            </a:r>
            <a:r>
              <a:rPr b="0"/>
              <a:t> It contains a computationally more modest approach than “agenic” (which uses a LLM to determine chunks) to find better context matches by using the found passages and seeing them in the hierarchical context of the document. In contrast to recursive we view the edge nodes of a document tree as the fine level chunks and determine the optimal passage on the distribution and relation of the retrieved chunks in the tree.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32" name="Ingest"/>
          <p:cNvSpPr txBox="1"/>
          <p:nvPr>
            <p:ph type="title"/>
          </p:nvPr>
        </p:nvSpPr>
        <p:spPr>
          <a:xfrm>
            <a:off x="1206500" y="1079499"/>
            <a:ext cx="21971000" cy="1433165"/>
          </a:xfrm>
          <a:prstGeom prst="rect">
            <a:avLst/>
          </a:prstGeom>
        </p:spPr>
        <p:txBody>
          <a:bodyPr/>
          <a:lstStyle>
            <a:lvl1pPr>
              <a:defRPr b="0" spc="-200">
                <a:solidFill>
                  <a:schemeClr val="accent6"/>
                </a:solidFill>
                <a:latin typeface="Impact"/>
                <a:ea typeface="Impact"/>
                <a:cs typeface="Impact"/>
                <a:sym typeface="Impact"/>
              </a:defRPr>
            </a:lvl1pPr>
          </a:lstStyle>
          <a:p>
            <a:pPr/>
            <a:r>
              <a:t>Ingest</a:t>
            </a:r>
          </a:p>
        </p:txBody>
      </p:sp>
      <p:sp>
        <p:nvSpPr>
          <p:cNvPr id="233" name="C) Robustness and Scalability"/>
          <p:cNvSpPr txBox="1"/>
          <p:nvPr>
            <p:ph type="body" sz="quarter" idx="1"/>
          </p:nvPr>
        </p:nvSpPr>
        <p:spPr>
          <a:xfrm>
            <a:off x="1206500" y="2372961"/>
            <a:ext cx="21971000" cy="934780"/>
          </a:xfrm>
          <a:prstGeom prst="rect">
            <a:avLst/>
          </a:prstGeom>
        </p:spPr>
        <p:txBody>
          <a:bodyPr/>
          <a:lstStyle/>
          <a:p>
            <a:pPr/>
            <a:r>
              <a:t>C) Robustness and Scalability</a:t>
            </a:r>
          </a:p>
        </p:txBody>
      </p:sp>
      <p:sp>
        <p:nvSpPr>
          <p:cNvPr id="234" name="In order to be robust and scale one needs a modular and distributed system. The re-Isearch design has been proven over many years in a large number of large scale highly visible deployments.…"/>
          <p:cNvSpPr txBox="1"/>
          <p:nvPr>
            <p:ph type="body" idx="21"/>
          </p:nvPr>
        </p:nvSpPr>
        <p:spPr>
          <a:xfrm>
            <a:off x="1206500" y="3691323"/>
            <a:ext cx="21971000" cy="9249738"/>
          </a:xfrm>
          <a:prstGeom prst="rect">
            <a:avLst/>
          </a:prstGeom>
          <a:extLst>
            <a:ext uri="{C572A759-6A51-4108-AA02-DFA0A04FC94B}">
              <ma14:wrappingTextBoxFlag xmlns:ma14="http://schemas.microsoft.com/office/mac/drawingml/2011/main" val="1"/>
            </a:ext>
          </a:extLst>
        </p:spPr>
        <p:txBody>
          <a:bodyPr/>
          <a:lstStyle/>
          <a:p>
            <a:pPr marL="0" indent="0" defTabSz="2145738">
              <a:spcBef>
                <a:spcPts val="3900"/>
              </a:spcBef>
              <a:buSzTx/>
              <a:buNone/>
              <a:defRPr sz="4200"/>
            </a:pPr>
            <a:r>
              <a:t>In order to be robust and scale one needs a modular and distributed system. The re-Isearch design has been proven over many years in a large number of large scale highly visible deployments.</a:t>
            </a:r>
          </a:p>
          <a:p>
            <a:pPr marL="0" indent="0" defTabSz="2145738">
              <a:spcBef>
                <a:spcPts val="3900"/>
              </a:spcBef>
              <a:buSzTx/>
              <a:buNone/>
              <a:defRPr sz="4200"/>
            </a:pPr>
            <a:r>
              <a:t>Beyond the internal document formats (DOCTYPES) there is a mechanism for dynamic loadable plugins.</a:t>
            </a:r>
          </a:p>
          <a:p>
            <a:pPr marL="0" indent="0" defTabSz="2145738">
              <a:spcBef>
                <a:spcPts val="3900"/>
              </a:spcBef>
              <a:buSzTx/>
              <a:buNone/>
              <a:defRPr sz="4200"/>
            </a:pPr>
            <a:r>
              <a:t>In the future a plug-in design will also be implemented to extend re-Isearch to support additional ANN (approximate nearest neighbour) algorithms for dense vector retrieval ranking as well as embedding generators.</a:t>
            </a:r>
          </a:p>
          <a:p>
            <a:pPr marL="0" indent="0" defTabSz="2145738">
              <a:spcBef>
                <a:spcPts val="3900"/>
              </a:spcBef>
              <a:buSzTx/>
              <a:buNone/>
              <a:defRPr sz="4200"/>
            </a:pPr>
            <a:r>
              <a:t>The 64-bit index (32-bit file IDs) supports a max Input of 16384 Tbytes (Total of all files) and 1 million records per physical index which, in turn, can be aggregated on demand at search-time with up to 254 additional indexes to create a searchable virtual index (max 255 million records). This can be significantly increased by compiling for 64-bit file IDs. In the other direction it can be compiled to produce 32-bit indexes to save on storage.</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36" name="Search and Retrieval"/>
          <p:cNvSpPr txBox="1"/>
          <p:nvPr>
            <p:ph type="title"/>
          </p:nvPr>
        </p:nvSpPr>
        <p:spPr>
          <a:xfrm>
            <a:off x="1206500" y="1079499"/>
            <a:ext cx="21971000" cy="1433165"/>
          </a:xfrm>
          <a:prstGeom prst="rect">
            <a:avLst/>
          </a:prstGeom>
        </p:spPr>
        <p:txBody>
          <a:bodyPr/>
          <a:lstStyle>
            <a:lvl1pPr>
              <a:defRPr b="0" spc="-200">
                <a:solidFill>
                  <a:schemeClr val="accent6"/>
                </a:solidFill>
                <a:latin typeface="Impact"/>
                <a:ea typeface="Impact"/>
                <a:cs typeface="Impact"/>
                <a:sym typeface="Impact"/>
              </a:defRPr>
            </a:lvl1pPr>
          </a:lstStyle>
          <a:p>
            <a:pPr/>
            <a:r>
              <a:t>Search and Retrieval</a:t>
            </a:r>
          </a:p>
        </p:txBody>
      </p:sp>
      <p:sp>
        <p:nvSpPr>
          <p:cNvPr id="237" name="The power of re-Isearch as a hybrid"/>
          <p:cNvSpPr txBox="1"/>
          <p:nvPr>
            <p:ph type="body" sz="quarter" idx="1"/>
          </p:nvPr>
        </p:nvSpPr>
        <p:spPr>
          <a:xfrm>
            <a:off x="1206500" y="2372961"/>
            <a:ext cx="21971000" cy="934780"/>
          </a:xfrm>
          <a:prstGeom prst="rect">
            <a:avLst/>
          </a:prstGeom>
        </p:spPr>
        <p:txBody>
          <a:bodyPr/>
          <a:lstStyle/>
          <a:p>
            <a:pPr/>
            <a:r>
              <a:t>The power of re-Isearch as a hybrid</a:t>
            </a:r>
          </a:p>
        </p:txBody>
      </p:sp>
      <p:sp>
        <p:nvSpPr>
          <p:cNvPr id="238" name="Because of their chunking size and strategy retrieved passages may sometimes been misaligned to context. Because we support multi-indexes, have a scope aware passage retrieval system-- we retrieve not just the chunks in the similarity top-k but view thes"/>
          <p:cNvSpPr txBox="1"/>
          <p:nvPr>
            <p:ph type="body" idx="21"/>
          </p:nvPr>
        </p:nvSpPr>
        <p:spPr>
          <a:xfrm>
            <a:off x="1206500" y="3812175"/>
            <a:ext cx="21971000" cy="9128668"/>
          </a:xfrm>
          <a:prstGeom prst="rect">
            <a:avLst/>
          </a:prstGeom>
          <a:extLst>
            <a:ext uri="{C572A759-6A51-4108-AA02-DFA0A04FC94B}">
              <ma14:wrappingTextBoxFlag xmlns:ma14="http://schemas.microsoft.com/office/mac/drawingml/2011/main" val="1"/>
            </a:ext>
          </a:extLst>
        </p:spPr>
        <p:txBody>
          <a:bodyPr/>
          <a:lstStyle/>
          <a:p>
            <a:pPr lvl="1" marL="381000" indent="-381000">
              <a:buSzPct val="100000"/>
              <a:buAutoNum type="alphaLcPeriod" startAt="1"/>
              <a:defRPr b="1"/>
            </a:pPr>
            <a:r>
              <a:t> </a:t>
            </a:r>
            <a:r>
              <a:rPr b="0" sz="5800"/>
              <a:t>Because of their chunking size and strategy retrieved passages may sometimes been misaligned to context. Because we support multi-indexes, have a scope aware passage retrieval system-- we retrieve not just the chunks in the similarity top-k but view these in their contextual scope to retrieve a scope that is more inclusive of probable context. </a:t>
            </a:r>
            <a:endParaRPr sz="5800"/>
          </a:p>
          <a:p>
            <a:pPr lvl="1" marL="380999" indent="-380999">
              <a:buSzPct val="100000"/>
              <a:buAutoNum type="alphaLcPeriod" startAt="1"/>
              <a:defRPr sz="5800"/>
            </a:pPr>
            <a:r>
              <a:t> We also do, among many other things, query augmentation to help contextualize and generate accurate responses, We can also deploy query routing to the most appropriate domain (index or even virtual collection of indexes).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40" name="Sustainability"/>
          <p:cNvSpPr txBox="1"/>
          <p:nvPr>
            <p:ph type="title"/>
          </p:nvPr>
        </p:nvSpPr>
        <p:spPr>
          <a:xfrm>
            <a:off x="1206500" y="1264647"/>
            <a:ext cx="21971000" cy="1433165"/>
          </a:xfrm>
          <a:prstGeom prst="rect">
            <a:avLst/>
          </a:prstGeom>
        </p:spPr>
        <p:txBody>
          <a:bodyPr/>
          <a:lstStyle>
            <a:lvl1pPr>
              <a:defRPr b="0" spc="-200">
                <a:solidFill>
                  <a:schemeClr val="accent6"/>
                </a:solidFill>
                <a:latin typeface="Impact"/>
                <a:ea typeface="Impact"/>
                <a:cs typeface="Impact"/>
                <a:sym typeface="Impact"/>
              </a:defRPr>
            </a:lvl1pPr>
          </a:lstStyle>
          <a:p>
            <a:pPr/>
            <a:r>
              <a:t>Sustainability</a:t>
            </a:r>
          </a:p>
        </p:txBody>
      </p:sp>
      <p:sp>
        <p:nvSpPr>
          <p:cNvPr id="241" name="Energy and Computational resource demands."/>
          <p:cNvSpPr txBox="1"/>
          <p:nvPr>
            <p:ph type="body" sz="quarter" idx="1"/>
          </p:nvPr>
        </p:nvSpPr>
        <p:spPr>
          <a:xfrm>
            <a:off x="1206500" y="2355184"/>
            <a:ext cx="21971000" cy="934780"/>
          </a:xfrm>
          <a:prstGeom prst="rect">
            <a:avLst/>
          </a:prstGeom>
        </p:spPr>
        <p:txBody>
          <a:bodyPr/>
          <a:lstStyle/>
          <a:p>
            <a:pPr/>
            <a:r>
              <a:t>Energy and Computational resource demands.</a:t>
            </a:r>
          </a:p>
        </p:txBody>
      </p:sp>
      <p:sp>
        <p:nvSpPr>
          <p:cNvPr id="242" name="It's one thing to have a good search but it must also be economically feasible, efficient and sustainable.…"/>
          <p:cNvSpPr txBox="1"/>
          <p:nvPr>
            <p:ph type="body" idx="21"/>
          </p:nvPr>
        </p:nvSpPr>
        <p:spPr>
          <a:xfrm>
            <a:off x="1206500" y="3706295"/>
            <a:ext cx="21971000" cy="8798222"/>
          </a:xfrm>
          <a:prstGeom prst="rect">
            <a:avLst/>
          </a:prstGeom>
          <a:extLst>
            <a:ext uri="{C572A759-6A51-4108-AA02-DFA0A04FC94B}">
              <ma14:wrappingTextBoxFlag xmlns:ma14="http://schemas.microsoft.com/office/mac/drawingml/2011/main" val="1"/>
            </a:ext>
          </a:extLst>
        </p:spPr>
        <p:txBody>
          <a:bodyPr/>
          <a:lstStyle/>
          <a:p>
            <a:pPr marL="0" indent="0" defTabSz="297140">
              <a:lnSpc>
                <a:spcPct val="120000"/>
              </a:lnSpc>
              <a:spcBef>
                <a:spcPts val="900"/>
              </a:spcBef>
              <a:buSzTx/>
              <a:buNone/>
              <a:defRPr b="1" sz="4000"/>
            </a:pPr>
            <a:r>
              <a:t>It's one thing to have a good search but it must also be economically feasible, efficient and sustainable.</a:t>
            </a:r>
          </a:p>
          <a:p>
            <a:pPr marL="0" indent="0" defTabSz="1609303">
              <a:spcBef>
                <a:spcPts val="2900"/>
              </a:spcBef>
              <a:buSzTx/>
              <a:buNone/>
              <a:defRPr sz="3100"/>
            </a:pPr>
            <a:r>
              <a:t>While the standard re-Isearch powered node can run on pretty much any platform, even small embedded systems, LLM inferencing (currently) demands a bit more resources. But instead of costly GPU data-servers (where popular the NVIDIA H100 costs $30k each—even the cut-price Asian market 96GB H20 variant costs $12k—and consumes alone 700w and are often deployed for inferencing in 8x constellations) we aim to target accessible platforms.  While companies such as Google sing praise about their massive context length (large context or LC) models they are heavily data-center based and energy intensive.  By constraining computational requirement we can leverage existing hardware and adhere to our aim to eliminate the need for costly data centers and reduce the environmental impact for search. Just as with the standard version, it is intended that users will be able to host their own data under their own well defined conditions.</a:t>
            </a:r>
          </a:p>
          <a:p>
            <a:pPr marL="0" indent="0" defTabSz="1609303">
              <a:spcBef>
                <a:spcPts val="2900"/>
              </a:spcBef>
              <a:buSzTx/>
              <a:buNone/>
              <a:defRPr sz="3100"/>
            </a:pPr>
            <a:r>
              <a:t>We have opted for a flexible architectural design to support multiple vector stores including, of course, HNSW. The basic idea is to view them as data types and within their handlers pipelines to selectable/extendable embeddings models. We have found, for example, that some algorithms work for some data really well but for others sub-optimally and visa-versa. Another aspect of our design, however, is to enable a simple pipeline where documents handed over to the ingest get processed by the appropriate document handler and data types detected, structure exploited for chunks, embeddings created and stored in an appropriate vector data store.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44" name="Note about Threats"/>
          <p:cNvSpPr txBox="1"/>
          <p:nvPr>
            <p:ph type="title"/>
          </p:nvPr>
        </p:nvSpPr>
        <p:spPr>
          <a:xfrm>
            <a:off x="1206500" y="1079499"/>
            <a:ext cx="21971000" cy="1433165"/>
          </a:xfrm>
          <a:prstGeom prst="rect">
            <a:avLst/>
          </a:prstGeom>
        </p:spPr>
        <p:txBody>
          <a:bodyPr/>
          <a:lstStyle>
            <a:lvl1pPr>
              <a:defRPr b="0" spc="-200">
                <a:solidFill>
                  <a:schemeClr val="accent6"/>
                </a:solidFill>
                <a:latin typeface="Impact"/>
                <a:ea typeface="Impact"/>
                <a:cs typeface="Impact"/>
                <a:sym typeface="Impact"/>
              </a:defRPr>
            </a:lvl1pPr>
          </a:lstStyle>
          <a:p>
            <a:pPr/>
            <a:r>
              <a:t>Note about Threats</a:t>
            </a:r>
          </a:p>
        </p:txBody>
      </p:sp>
      <p:sp>
        <p:nvSpPr>
          <p:cNvPr id="245" name="When we first started to think about developing LLM nodes for Project ExoDAO we set out to identify the risks and identify the legal, civil (litigation), moral threats as well as the threat of sabotage and poisoning. This formed the project 40F which we "/>
          <p:cNvSpPr txBox="1"/>
          <p:nvPr>
            <p:ph type="body" idx="1"/>
          </p:nvPr>
        </p:nvSpPr>
        <p:spPr>
          <a:xfrm>
            <a:off x="1206500" y="3429875"/>
            <a:ext cx="21971000" cy="9111671"/>
          </a:xfrm>
          <a:prstGeom prst="rect">
            <a:avLst/>
          </a:prstGeom>
        </p:spPr>
        <p:txBody>
          <a:bodyPr lIns="50800" tIns="50800" rIns="50800" bIns="50800"/>
          <a:lstStyle>
            <a:lvl1pPr defTabSz="2438337">
              <a:lnSpc>
                <a:spcPct val="90000"/>
              </a:lnSpc>
              <a:spcBef>
                <a:spcPts val="4500"/>
              </a:spcBef>
              <a:defRPr b="0"/>
            </a:lvl1pPr>
          </a:lstStyle>
          <a:p>
            <a:pPr/>
            <a:r>
              <a:t>When we first started to think about developing LLM nodes for Project ExoDAO we set out to identify the risks and identify the legal, civil (litigation), moral threats as well as the threat of sabotage and poisoning. This formed the project 40F which we also presented at FOSDEM ‘24 in Brussels: “Fortify AI against regulation, litigation and labotomies”.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47" name="Model Poisoning / AI IEDs"/>
          <p:cNvSpPr txBox="1"/>
          <p:nvPr>
            <p:ph type="title"/>
          </p:nvPr>
        </p:nvSpPr>
        <p:spPr>
          <a:xfrm>
            <a:off x="1206500" y="1079499"/>
            <a:ext cx="21971000" cy="1433165"/>
          </a:xfrm>
          <a:prstGeom prst="rect">
            <a:avLst/>
          </a:prstGeom>
        </p:spPr>
        <p:txBody>
          <a:bodyPr/>
          <a:lstStyle>
            <a:lvl1pPr>
              <a:defRPr b="0" spc="-200">
                <a:solidFill>
                  <a:schemeClr val="accent6"/>
                </a:solidFill>
                <a:latin typeface="Impact"/>
                <a:ea typeface="Impact"/>
                <a:cs typeface="Impact"/>
                <a:sym typeface="Impact"/>
              </a:defRPr>
            </a:lvl1pPr>
          </a:lstStyle>
          <a:p>
            <a:pPr/>
            <a:r>
              <a:t>Model Poisoning / AI IEDs</a:t>
            </a:r>
          </a:p>
        </p:txBody>
      </p:sp>
      <p:sp>
        <p:nvSpPr>
          <p:cNvPr id="248" name="An adversary injects some data into the training or tuning pool to effect a change in the model’s behavior.…"/>
          <p:cNvSpPr txBox="1"/>
          <p:nvPr>
            <p:ph type="body" idx="1"/>
          </p:nvPr>
        </p:nvSpPr>
        <p:spPr>
          <a:xfrm>
            <a:off x="1206500" y="2568093"/>
            <a:ext cx="21971000" cy="9936424"/>
          </a:xfrm>
          <a:prstGeom prst="rect">
            <a:avLst/>
          </a:prstGeom>
        </p:spPr>
        <p:txBody>
          <a:bodyPr lIns="50800" tIns="50800" rIns="50800" bIns="50800"/>
          <a:lstStyle/>
          <a:p>
            <a:pPr marL="609600" indent="-609600" defTabSz="2438337">
              <a:lnSpc>
                <a:spcPct val="90000"/>
              </a:lnSpc>
              <a:spcBef>
                <a:spcPts val="4500"/>
              </a:spcBef>
              <a:buSzPct val="123000"/>
              <a:buChar char="•"/>
              <a:defRPr b="0" sz="4800"/>
            </a:pPr>
            <a:r>
              <a:t>An adversary injects some data into the training or tuning pool to effect a change in the model’s behavior.</a:t>
            </a:r>
          </a:p>
          <a:p>
            <a:pPr marL="609600" indent="-609600" defTabSz="2438337">
              <a:lnSpc>
                <a:spcPct val="90000"/>
              </a:lnSpc>
              <a:spcBef>
                <a:spcPts val="4500"/>
              </a:spcBef>
              <a:buSzPct val="123000"/>
              <a:buChar char="•"/>
              <a:defRPr b="0" sz="4800"/>
            </a:pPr>
            <a:r>
              <a:t>Nothing new. 20 years ago there were a number of attacks designed to evade spam classifiers.</a:t>
            </a:r>
          </a:p>
          <a:p>
            <a:pPr marL="609600" indent="-609600" defTabSz="2438337">
              <a:lnSpc>
                <a:spcPct val="90000"/>
              </a:lnSpc>
              <a:spcBef>
                <a:spcPts val="4500"/>
              </a:spcBef>
              <a:buSzPct val="123000"/>
              <a:buChar char="•"/>
              <a:defRPr b="0" sz="4800"/>
            </a:pPr>
            <a:r>
              <a:t>Its relatively easy to poison a LMM model.</a:t>
            </a:r>
          </a:p>
          <a:p>
            <a:pPr marL="609600" indent="-609600" defTabSz="2438337">
              <a:lnSpc>
                <a:spcPct val="90000"/>
              </a:lnSpc>
              <a:spcBef>
                <a:spcPts val="4500"/>
              </a:spcBef>
              <a:buSzPct val="123000"/>
              <a:buChar char="•"/>
              <a:defRPr b="0" sz="4800"/>
            </a:pPr>
            <a:r>
              <a:t>We have a number of nation/states highly motivated to spread disinformation. We also have SEO like commercial interests and ..</a:t>
            </a:r>
          </a:p>
          <a:p>
            <a:pPr marL="609600" indent="-609600" defTabSz="2438337">
              <a:lnSpc>
                <a:spcPct val="90000"/>
              </a:lnSpc>
              <a:spcBef>
                <a:spcPts val="4500"/>
              </a:spcBef>
              <a:buSzPct val="123000"/>
              <a:buChar char="•"/>
              <a:defRPr b="0" sz="4800"/>
            </a:pPr>
            <a:r>
              <a:t>Throw into the mix explicitly user-submitted data.</a:t>
            </a:r>
          </a:p>
          <a:p>
            <a:pPr marL="609600" indent="-609600" defTabSz="2438337">
              <a:lnSpc>
                <a:spcPct val="90000"/>
              </a:lnSpc>
              <a:spcBef>
                <a:spcPts val="4500"/>
              </a:spcBef>
              <a:buSzPct val="123000"/>
              <a:buChar char="•"/>
              <a:defRPr b="0" sz="4800"/>
            </a:pPr>
            <a:r>
              <a:t>RAG can be easily poisoned by just a few cleverly designed inputs.</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50" name="How to labotomise a model in 4 easy steps:"/>
          <p:cNvSpPr txBox="1"/>
          <p:nvPr>
            <p:ph type="body" idx="1"/>
          </p:nvPr>
        </p:nvSpPr>
        <p:spPr>
          <a:xfrm>
            <a:off x="1002682" y="1126268"/>
            <a:ext cx="21971002" cy="11463464"/>
          </a:xfrm>
          <a:prstGeom prst="rect">
            <a:avLst/>
          </a:prstGeom>
        </p:spPr>
        <p:txBody>
          <a:bodyPr numCol="1" spcCol="38100"/>
          <a:lstStyle>
            <a:lvl1pPr marL="0" indent="0">
              <a:buSzTx/>
              <a:buNone/>
              <a:defRPr b="1">
                <a:solidFill>
                  <a:schemeClr val="accent6"/>
                </a:solidFill>
              </a:defRPr>
            </a:lvl1pPr>
          </a:lstStyle>
          <a:p>
            <a:pPr/>
            <a:r>
              <a:t>How to labotomise a model in 4 easy steps:</a:t>
            </a:r>
          </a:p>
        </p:txBody>
      </p:sp>
      <p:pic>
        <p:nvPicPr>
          <p:cNvPr id="251" name="Image" descr="Image"/>
          <p:cNvPicPr>
            <a:picLocks noChangeAspect="1"/>
          </p:cNvPicPr>
          <p:nvPr/>
        </p:nvPicPr>
        <p:blipFill>
          <a:blip r:embed="rId3">
            <a:extLst/>
          </a:blip>
          <a:stretch>
            <a:fillRect/>
          </a:stretch>
        </p:blipFill>
        <p:spPr>
          <a:xfrm>
            <a:off x="1293347" y="2467958"/>
            <a:ext cx="14455495" cy="8131217"/>
          </a:xfrm>
          <a:prstGeom prst="rect">
            <a:avLst/>
          </a:prstGeom>
          <a:ln w="12700">
            <a:miter lim="400000"/>
          </a:ln>
        </p:spPr>
      </p:pic>
      <p:sp>
        <p:nvSpPr>
          <p:cNvPr id="252" name="If one can inject some adversarial content even into the text used to augment the LLM via its retrieval (RAG) one can poison the outcome of the query!"/>
          <p:cNvSpPr txBox="1"/>
          <p:nvPr/>
        </p:nvSpPr>
        <p:spPr>
          <a:xfrm>
            <a:off x="16178984" y="3538556"/>
            <a:ext cx="7048518" cy="497128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5000">
                <a:solidFill>
                  <a:srgbClr val="EE230C"/>
                </a:solidFill>
              </a:defRPr>
            </a:lvl1pPr>
          </a:lstStyle>
          <a:p>
            <a:pPr/>
            <a:r>
              <a:t>If one can inject some adversarial content even into the text used to augment the LLM via its retrieval (RAG) one can poison the outcome of the query!</a:t>
            </a:r>
          </a:p>
        </p:txBody>
      </p:sp>
      <p:sp>
        <p:nvSpPr>
          <p:cNvPr id="253" name="With a hybrid search approach one can use the engine itself to look for possible poisoned content. Using cyptographic one-way content hashes we can also verify any manipulations."/>
          <p:cNvSpPr txBox="1"/>
          <p:nvPr/>
        </p:nvSpPr>
        <p:spPr>
          <a:xfrm>
            <a:off x="665586" y="11295515"/>
            <a:ext cx="23052828" cy="1501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Impact"/>
                <a:ea typeface="Impact"/>
                <a:cs typeface="Impact"/>
                <a:sym typeface="Impact"/>
              </a:defRPr>
            </a:lvl1pPr>
          </a:lstStyle>
          <a:p>
            <a:pPr/>
            <a:r>
              <a:t>With a hybrid search approach one can use the engine itself to look for possible poisoned content. Using cyptographic one-way content hashes we can also verify any manipulations.</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55" name="Development Organisation"/>
          <p:cNvSpPr txBox="1"/>
          <p:nvPr>
            <p:ph type="title"/>
          </p:nvPr>
        </p:nvSpPr>
        <p:spPr>
          <a:xfrm>
            <a:off x="1206500" y="1079499"/>
            <a:ext cx="21971000" cy="1433165"/>
          </a:xfrm>
          <a:prstGeom prst="rect">
            <a:avLst/>
          </a:prstGeom>
        </p:spPr>
        <p:txBody>
          <a:bodyPr/>
          <a:lstStyle>
            <a:lvl1pPr>
              <a:defRPr spc="-200">
                <a:solidFill>
                  <a:schemeClr val="accent6"/>
                </a:solidFill>
              </a:defRPr>
            </a:lvl1pPr>
          </a:lstStyle>
          <a:p>
            <a:pPr/>
            <a:r>
              <a:t>Development Organisation</a:t>
            </a:r>
          </a:p>
        </p:txBody>
      </p:sp>
      <p:sp>
        <p:nvSpPr>
          <p:cNvPr id="256" name="Under re-Isearch.org (Munich) in association with ExoDAO Network Association (Zurich)"/>
          <p:cNvSpPr txBox="1"/>
          <p:nvPr>
            <p:ph type="body" sz="quarter" idx="1"/>
          </p:nvPr>
        </p:nvSpPr>
        <p:spPr>
          <a:xfrm>
            <a:off x="1206500" y="2372961"/>
            <a:ext cx="21971000" cy="934780"/>
          </a:xfrm>
          <a:prstGeom prst="rect">
            <a:avLst/>
          </a:prstGeom>
        </p:spPr>
        <p:txBody>
          <a:bodyPr/>
          <a:lstStyle/>
          <a:p>
            <a:pPr defTabSz="610869">
              <a:defRPr sz="4000"/>
            </a:pPr>
            <a:r>
              <a:t>Under </a:t>
            </a:r>
            <a:r>
              <a:rPr u="sng">
                <a:solidFill>
                  <a:srgbClr val="0000FF"/>
                </a:solidFill>
                <a:uFill>
                  <a:solidFill>
                    <a:srgbClr val="0000FF"/>
                  </a:solidFill>
                </a:uFill>
                <a:hlinkClick r:id="rId3" invalidUrl="" action="" tgtFrame="" tooltip="" history="1" highlightClick="0" endSnd="0"/>
              </a:rPr>
              <a:t>re-Isearch.org</a:t>
            </a:r>
            <a:r>
              <a:t> (Munich) in association with ExoDAO Network Association (Zurich)</a:t>
            </a:r>
          </a:p>
        </p:txBody>
      </p:sp>
      <p:sp>
        <p:nvSpPr>
          <p:cNvPr id="257" name="re-Isearch.org is a newly formed organisation to centre the development of the re-Isearch engine. It is based in Munich, Germany.…"/>
          <p:cNvSpPr txBox="1"/>
          <p:nvPr>
            <p:ph type="body" idx="21"/>
          </p:nvPr>
        </p:nvSpPr>
        <p:spPr>
          <a:xfrm>
            <a:off x="1206500" y="3542481"/>
            <a:ext cx="21971000" cy="8962036"/>
          </a:xfrm>
          <a:prstGeom prst="rect">
            <a:avLst/>
          </a:prstGeom>
          <a:extLst>
            <a:ext uri="{C572A759-6A51-4108-AA02-DFA0A04FC94B}">
              <ma14:wrappingTextBoxFlag xmlns:ma14="http://schemas.microsoft.com/office/mac/drawingml/2011/main" val="1"/>
            </a:ext>
          </a:extLst>
        </p:spPr>
        <p:txBody>
          <a:bodyPr/>
          <a:lstStyle/>
          <a:p>
            <a:pPr marL="591311" indent="-591311" defTabSz="2365187">
              <a:spcBef>
                <a:spcPts val="4300"/>
              </a:spcBef>
              <a:defRPr sz="4600" u="sng"/>
            </a:pPr>
            <a:r>
              <a:rPr>
                <a:solidFill>
                  <a:srgbClr val="0000FF"/>
                </a:solidFill>
                <a:uFill>
                  <a:solidFill>
                    <a:srgbClr val="0000FF"/>
                  </a:solidFill>
                </a:uFill>
                <a:hlinkClick r:id="rId3" invalidUrl="" action="" tgtFrame="" tooltip="" history="1" highlightClick="0" endSnd="0"/>
              </a:rPr>
              <a:t>re-Isearch.org</a:t>
            </a:r>
            <a:r>
              <a:rPr u="none"/>
              <a:t> is a newly formed organisation to centre the development of the re-Isearch engine. It is based in Munich, Germany.</a:t>
            </a:r>
          </a:p>
          <a:p>
            <a:pPr marL="591311" indent="-591311" defTabSz="2365187">
              <a:spcBef>
                <a:spcPts val="4300"/>
              </a:spcBef>
              <a:defRPr sz="4600" u="sng"/>
            </a:pPr>
            <a:r>
              <a:rPr>
                <a:solidFill>
                  <a:srgbClr val="0000FF"/>
                </a:solidFill>
                <a:uFill>
                  <a:solidFill>
                    <a:srgbClr val="0000FF"/>
                  </a:solidFill>
                </a:uFill>
                <a:hlinkClick r:id="rId4" invalidUrl="" action="" tgtFrame="" tooltip="" history="1" highlightClick="0" endSnd="0"/>
              </a:rPr>
              <a:t>ExoDAO.net</a:t>
            </a:r>
            <a:r>
              <a:rPr u="none"/>
              <a:t> is a Swiss Association established in 2022 in Zurich, Switzerland around the Student Project House (SPH) of the Swiss Federal Institute of Technology in Zurich (ETH-Z). It has been tasked with a “moonshot” to develop a next generation Internet search. Its founding was catalysed by a grant from the Open Data Switzerland/Mercator Foundation Switzerland. ExoDAO is in 2025 leaving the ETH-Z SPH (as Yoel’s academic affiliation moves from Zurich in Sept. 2025 to Harvard).</a:t>
            </a:r>
          </a:p>
          <a:p>
            <a:pPr marL="591311" indent="-591311" defTabSz="2365187">
              <a:spcBef>
                <a:spcPts val="4300"/>
              </a:spcBef>
              <a:defRPr sz="4600"/>
            </a:pPr>
            <a:r>
              <a:t>Through the founding of </a:t>
            </a:r>
            <a:r>
              <a:rPr u="sng">
                <a:solidFill>
                  <a:srgbClr val="0000FF"/>
                </a:solidFill>
                <a:uFill>
                  <a:solidFill>
                    <a:srgbClr val="0000FF"/>
                  </a:solidFill>
                </a:uFill>
                <a:hlinkClick r:id="rId3" invalidUrl="" action="" tgtFrame="" tooltip="" history="1" highlightClick="0" endSnd="0"/>
              </a:rPr>
              <a:t>re-Isearch.org</a:t>
            </a:r>
            <a:r>
              <a:t> the development of re-Isearch is disentangled from ExoDAO protocol development. It is intended as a clear signal that one can use re-Isearch without participating in the ExoDAO Network.</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59" name="Main Repository"/>
          <p:cNvSpPr txBox="1"/>
          <p:nvPr>
            <p:ph type="title"/>
          </p:nvPr>
        </p:nvSpPr>
        <p:spPr>
          <a:xfrm>
            <a:off x="1206500" y="1079500"/>
            <a:ext cx="21971000" cy="1433164"/>
          </a:xfrm>
          <a:prstGeom prst="rect">
            <a:avLst/>
          </a:prstGeom>
        </p:spPr>
        <p:txBody>
          <a:bodyPr/>
          <a:lstStyle>
            <a:lvl1pPr>
              <a:defRPr spc="-200">
                <a:solidFill>
                  <a:srgbClr val="FFFFFF"/>
                </a:solidFill>
              </a:defRPr>
            </a:lvl1pPr>
          </a:lstStyle>
          <a:p>
            <a:pPr/>
            <a:r>
              <a:t>Main Repository</a:t>
            </a:r>
          </a:p>
        </p:txBody>
      </p:sp>
      <p:sp>
        <p:nvSpPr>
          <p:cNvPr id="260" name="https://github.com/re-Isearch/Schmate"/>
          <p:cNvSpPr txBox="1"/>
          <p:nvPr>
            <p:ph type="body" idx="1"/>
          </p:nvPr>
        </p:nvSpPr>
        <p:spPr>
          <a:xfrm>
            <a:off x="1206500" y="2372960"/>
            <a:ext cx="21971000" cy="10240354"/>
          </a:xfrm>
          <a:prstGeom prst="rect">
            <a:avLst/>
          </a:prstGeom>
        </p:spPr>
        <p:txBody>
          <a:bodyPr/>
          <a:lstStyle>
            <a:lvl1pPr>
              <a:defRPr u="sng">
                <a:solidFill>
                  <a:srgbClr val="0000FF"/>
                </a:solidFill>
                <a:uFill>
                  <a:solidFill>
                    <a:srgbClr val="0000FF"/>
                  </a:solidFill>
                </a:uFill>
                <a:hlinkClick r:id="rId3" invalidUrl="" action="" tgtFrame="" tooltip="" history="1" highlightClick="0" endSnd="0"/>
              </a:defRPr>
            </a:lvl1pPr>
          </a:lstStyle>
          <a:p>
            <a:pPr/>
            <a:r>
              <a:rPr>
                <a:hlinkClick r:id="rId3" invalidUrl="" action="" tgtFrame="" tooltip="" history="1" highlightClick="0" endSnd="0"/>
              </a:rPr>
              <a:t>https://github.com/re-Isearch/Schmate</a:t>
            </a:r>
          </a:p>
        </p:txBody>
      </p:sp>
      <p:pic>
        <p:nvPicPr>
          <p:cNvPr id="261" name="Unknown.gif" descr="Unknown.gif"/>
          <p:cNvPicPr>
            <a:picLocks noChangeAspect="1"/>
          </p:cNvPicPr>
          <p:nvPr/>
        </p:nvPicPr>
        <p:blipFill>
          <a:blip r:embed="rId4">
            <a:extLst/>
          </a:blip>
          <a:stretch>
            <a:fillRect/>
          </a:stretch>
        </p:blipFill>
        <p:spPr>
          <a:xfrm>
            <a:off x="13385713" y="3708146"/>
            <a:ext cx="7379100" cy="7379101"/>
          </a:xfrm>
          <a:prstGeom prst="rect">
            <a:avLst/>
          </a:prstGeom>
          <a:ln w="12700">
            <a:miter lim="400000"/>
          </a:ln>
        </p:spPr>
      </p:pic>
      <p:sp>
        <p:nvSpPr>
          <p:cNvPr id="262" name="This project was funded through the NGI0 Commons Fund, a fund established by NLnet with financial support from the European Commission's Next Generation Internet programme, under the aegis of DG Communications Networks, Content and Technology under grant"/>
          <p:cNvSpPr txBox="1"/>
          <p:nvPr/>
        </p:nvSpPr>
        <p:spPr>
          <a:xfrm>
            <a:off x="741484" y="11516863"/>
            <a:ext cx="23233866" cy="123571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2000"/>
              </a:spcBef>
              <a:defRPr sz="2500">
                <a:solidFill>
                  <a:srgbClr val="FFFFFF"/>
                </a:solidFill>
                <a:uFill>
                  <a:solidFill>
                    <a:srgbClr val="3333FF"/>
                  </a:solidFill>
                </a:uFill>
              </a:defRPr>
            </a:pPr>
            <a:r>
              <a:t>This project was funded through the</a:t>
            </a:r>
            <a:r>
              <a:rPr>
                <a:solidFill>
                  <a:srgbClr val="333333"/>
                </a:solidFill>
              </a:rPr>
              <a:t> </a:t>
            </a:r>
            <a:r>
              <a:rPr u="sng">
                <a:solidFill>
                  <a:srgbClr val="0000FF"/>
                </a:solidFill>
                <a:uFill>
                  <a:solidFill>
                    <a:srgbClr val="0000FF"/>
                  </a:solidFill>
                </a:uFill>
                <a:hlinkClick r:id="rId5" invalidUrl="" action="" tgtFrame="" tooltip="" history="1" highlightClick="0" endSnd="0"/>
              </a:rPr>
              <a:t>NGI0 Commons Fund</a:t>
            </a:r>
            <a:r>
              <a:rPr>
                <a:solidFill>
                  <a:srgbClr val="333333"/>
                </a:solidFill>
              </a:rPr>
              <a:t>, </a:t>
            </a:r>
            <a:r>
              <a:t>a fund established by </a:t>
            </a:r>
            <a:r>
              <a:rPr u="sng">
                <a:solidFill>
                  <a:srgbClr val="0000FF"/>
                </a:solidFill>
                <a:uFill>
                  <a:solidFill>
                    <a:srgbClr val="0000FF"/>
                  </a:solidFill>
                </a:uFill>
                <a:hlinkClick r:id="rId6" invalidUrl="" action="" tgtFrame="" tooltip="" history="1" highlightClick="0" endSnd="0"/>
              </a:rPr>
              <a:t>NLnet</a:t>
            </a:r>
            <a:r>
              <a:rPr>
                <a:solidFill>
                  <a:srgbClr val="333333"/>
                </a:solidFill>
              </a:rPr>
              <a:t> </a:t>
            </a:r>
            <a:r>
              <a:t>with financial support from the European Commission's </a:t>
            </a:r>
            <a:r>
              <a:rPr u="sng">
                <a:solidFill>
                  <a:srgbClr val="0000FF"/>
                </a:solidFill>
                <a:uFill>
                  <a:solidFill>
                    <a:srgbClr val="0000FF"/>
                  </a:solidFill>
                </a:uFill>
                <a:hlinkClick r:id="rId7" invalidUrl="" action="" tgtFrame="" tooltip="" history="1" highlightClick="0" endSnd="0"/>
              </a:rPr>
              <a:t>Next Generation Internet</a:t>
            </a:r>
            <a:r>
              <a:rPr>
                <a:solidFill>
                  <a:srgbClr val="333333"/>
                </a:solidFill>
              </a:rPr>
              <a:t> </a:t>
            </a:r>
            <a:r>
              <a:t>programme, under the aegis of</a:t>
            </a:r>
            <a:r>
              <a:rPr>
                <a:solidFill>
                  <a:srgbClr val="333333"/>
                </a:solidFill>
              </a:rPr>
              <a:t> </a:t>
            </a:r>
            <a:r>
              <a:rPr u="sng">
                <a:solidFill>
                  <a:srgbClr val="0000FF"/>
                </a:solidFill>
                <a:uFill>
                  <a:solidFill>
                    <a:srgbClr val="0000FF"/>
                  </a:solidFill>
                </a:uFill>
                <a:hlinkClick r:id="rId8" invalidUrl="" action="" tgtFrame="" tooltip="" history="1" highlightClick="0" endSnd="0"/>
              </a:rPr>
              <a:t>DG Communications Networks, Content and Technology</a:t>
            </a:r>
            <a:r>
              <a:rPr>
                <a:solidFill>
                  <a:srgbClr val="333333"/>
                </a:solidFill>
              </a:rPr>
              <a:t> </a:t>
            </a:r>
            <a:r>
              <a:t>under grant agreement N</a:t>
            </a:r>
            <a:r>
              <a:rPr baseline="31999" sz="2200"/>
              <a:t>o</a:t>
            </a:r>
            <a:r>
              <a:t> </a:t>
            </a:r>
            <a:r>
              <a:rPr u="sng">
                <a:solidFill>
                  <a:srgbClr val="0000FF"/>
                </a:solidFill>
                <a:uFill>
                  <a:solidFill>
                    <a:srgbClr val="0000FF"/>
                  </a:solidFill>
                </a:uFill>
                <a:hlinkClick r:id="rId9" invalidUrl="" action="" tgtFrame="" tooltip="" history="1" highlightClick="0" endSnd="0"/>
              </a:rPr>
              <a:t>101135429</a:t>
            </a:r>
            <a:r>
              <a:rPr>
                <a:solidFill>
                  <a:srgbClr val="333333"/>
                </a:solidFill>
              </a:rPr>
              <a:t>. </a:t>
            </a:r>
            <a:r>
              <a:t>Additional funding is made available by the</a:t>
            </a:r>
            <a:r>
              <a:rPr>
                <a:solidFill>
                  <a:srgbClr val="333333"/>
                </a:solidFill>
              </a:rPr>
              <a:t> </a:t>
            </a:r>
            <a:r>
              <a:rPr u="sng">
                <a:solidFill>
                  <a:srgbClr val="0000FF"/>
                </a:solidFill>
                <a:uFill>
                  <a:solidFill>
                    <a:srgbClr val="0000FF"/>
                  </a:solidFill>
                </a:uFill>
                <a:hlinkClick r:id="rId10" invalidUrl="" action="" tgtFrame="" tooltip="" history="1" highlightClick="0" endSnd="0"/>
              </a:rPr>
              <a:t>Swiss State Secretariat for Education, Research and Innovation</a:t>
            </a:r>
            <a:r>
              <a:rPr>
                <a:solidFill>
                  <a:srgbClr val="333333"/>
                </a:solidFill>
              </a:rPr>
              <a:t> </a:t>
            </a:r>
            <a:r>
              <a:t>(SERI).</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3_DynamicLight">
  <a:themeElements>
    <a:clrScheme name="33_DynamicLight">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a:ea typeface="Helvetica"/>
        <a:cs typeface="Helvetica"/>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3_DynamicLight">
  <a:themeElements>
    <a:clrScheme name="33_DynamicLight">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a:ea typeface="Helvetica"/>
        <a:cs typeface="Helvetica"/>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